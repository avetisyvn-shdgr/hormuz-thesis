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b6a41df2e34e89" /><Relationship Type="http://schemas.openxmlformats.org/officeDocument/2006/relationships/extended-properties" Target="/docProps/app.xml" Id="R6cfd0d09ccc442e9" /><Relationship Type="http://schemas.openxmlformats.org/officeDocument/2006/relationships/officeDocument" Target="/ppt/presentation.xml" Id="R3a28d501792543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c1933ebc0e4082"/>
  </p:sldMasterIdLst>
  <p:notesMasterIdLst>
    <p:notesMasterId xmlns:r="http://schemas.openxmlformats.org/officeDocument/2006/relationships" r:id="Rb3299b63ca404cf6"/>
  </p:notesMasterIdLst>
  <p:sldIdLst>
    <p:sldId xmlns:r="http://schemas.openxmlformats.org/officeDocument/2006/relationships" id="256" r:id="R7f06ed4b5c46412d"/>
    <p:sldId xmlns:r="http://schemas.openxmlformats.org/officeDocument/2006/relationships" id="257" r:id="R074592a29d31462a"/>
    <p:sldId xmlns:r="http://schemas.openxmlformats.org/officeDocument/2006/relationships" id="258" r:id="Ra51832fe7b6c41d9"/>
    <p:sldId xmlns:r="http://schemas.openxmlformats.org/officeDocument/2006/relationships" id="259" r:id="Rf78cdcf9e72c4622"/>
    <p:sldId xmlns:r="http://schemas.openxmlformats.org/officeDocument/2006/relationships" id="260" r:id="R9985c30f65104313"/>
    <p:sldId xmlns:r="http://schemas.openxmlformats.org/officeDocument/2006/relationships" id="261" r:id="R84cae3058f54457e"/>
    <p:sldId xmlns:r="http://schemas.openxmlformats.org/officeDocument/2006/relationships" id="262" r:id="R9edbe30b4c29455c"/>
    <p:sldId xmlns:r="http://schemas.openxmlformats.org/officeDocument/2006/relationships" id="263" r:id="R5112220b72ab45f3"/>
    <p:sldId xmlns:r="http://schemas.openxmlformats.org/officeDocument/2006/relationships" id="264" r:id="R554928493de249a1"/>
    <p:sldId xmlns:r="http://schemas.openxmlformats.org/officeDocument/2006/relationships" id="265" r:id="Rbd47aa894ec847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80608c0eb34f38" /><Relationship Type="http://schemas.openxmlformats.org/officeDocument/2006/relationships/slideMaster" Target="/ppt/slideMasters/slideMaster1.xml" Id="Re3c1933ebc0e4082" /><Relationship Type="http://schemas.openxmlformats.org/officeDocument/2006/relationships/notesMaster" Target="/ppt/notesMasters/notesMaster1.xml" Id="Rb3299b63ca404cf6" /><Relationship Type="http://schemas.openxmlformats.org/officeDocument/2006/relationships/presProps" Target="/ppt/presProps.xml" Id="R9e03a8488cdb4c40" /><Relationship Type="http://schemas.openxmlformats.org/officeDocument/2006/relationships/viewProps" Target="/ppt/viewProps.xml" Id="R892c735d3bc9484a" /><Relationship Type="http://schemas.openxmlformats.org/officeDocument/2006/relationships/tableStyles" Target="/ppt/tableStyles.xml" Id="Raa25a9abb1844fbf" /><Relationship Type="http://schemas.openxmlformats.org/officeDocument/2006/relationships/slide" Target="/ppt/slides/slide1.xml" Id="R7f06ed4b5c46412d" /><Relationship Type="http://schemas.openxmlformats.org/officeDocument/2006/relationships/slide" Target="/ppt/slides/slide2.xml" Id="R074592a29d31462a" /><Relationship Type="http://schemas.openxmlformats.org/officeDocument/2006/relationships/slide" Target="/ppt/slides/slide3.xml" Id="Ra51832fe7b6c41d9" /><Relationship Type="http://schemas.openxmlformats.org/officeDocument/2006/relationships/slide" Target="/ppt/slides/slide4.xml" Id="Rf78cdcf9e72c4622" /><Relationship Type="http://schemas.openxmlformats.org/officeDocument/2006/relationships/slide" Target="/ppt/slides/slide5.xml" Id="R9985c30f65104313" /><Relationship Type="http://schemas.openxmlformats.org/officeDocument/2006/relationships/slide" Target="/ppt/slides/slide6.xml" Id="R84cae3058f54457e" /><Relationship Type="http://schemas.openxmlformats.org/officeDocument/2006/relationships/slide" Target="/ppt/slides/slide7.xml" Id="R9edbe30b4c29455c" /><Relationship Type="http://schemas.openxmlformats.org/officeDocument/2006/relationships/slide" Target="/ppt/slides/slide8.xml" Id="R5112220b72ab45f3" /><Relationship Type="http://schemas.openxmlformats.org/officeDocument/2006/relationships/slide" Target="/ppt/slides/slide9.xml" Id="R554928493de249a1" /><Relationship Type="http://schemas.openxmlformats.org/officeDocument/2006/relationships/slide" Target="/ppt/slides/slide10.xml" Id="Rbd47aa894ec847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aa72b05aca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b9f4642984d1a" /><Relationship Type="http://schemas.openxmlformats.org/officeDocument/2006/relationships/notesMaster" Target="/ppt/notesMasters/notesMaster1.xml" Id="Rbc12f7dd15134f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2f68bf09fd4dc0" /><Relationship Type="http://schemas.openxmlformats.org/officeDocument/2006/relationships/notesMaster" Target="/ppt/notesMasters/notesMaster1.xml" Id="R7992e9df0c9d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55ee6eb368473c" /><Relationship Type="http://schemas.openxmlformats.org/officeDocument/2006/relationships/notesMaster" Target="/ppt/notesMasters/notesMaster1.xml" Id="R9fe2487b0f4c4f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4d260d04364aff" /><Relationship Type="http://schemas.openxmlformats.org/officeDocument/2006/relationships/notesMaster" Target="/ppt/notesMasters/notesMaster1.xml" Id="Rfd6e702d9703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122b5459d04040" /><Relationship Type="http://schemas.openxmlformats.org/officeDocument/2006/relationships/notesMaster" Target="/ppt/notesMasters/notesMaster1.xml" Id="R5b4cdf599b6748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def787afe34d83" /><Relationship Type="http://schemas.openxmlformats.org/officeDocument/2006/relationships/notesMaster" Target="/ppt/notesMasters/notesMaster1.xml" Id="R3bd39a2a98af43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8dc3178a94c52" /><Relationship Type="http://schemas.openxmlformats.org/officeDocument/2006/relationships/notesMaster" Target="/ppt/notesMasters/notesMaster1.xml" Id="Re0601b265ae9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d4cd9f1674943" /><Relationship Type="http://schemas.openxmlformats.org/officeDocument/2006/relationships/notesMaster" Target="/ppt/notesMasters/notesMaster1.xml" Id="Rfa2ce0f6e6144d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cb17e82594435" /><Relationship Type="http://schemas.openxmlformats.org/officeDocument/2006/relationships/notesMaster" Target="/ppt/notesMasters/notesMaster1.xml" Id="R9f550e0656204b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33ae3a8bd4ee7" /><Relationship Type="http://schemas.openxmlformats.org/officeDocument/2006/relationships/notesMaster" Target="/ppt/notesMasters/notesMaster1.xml" Id="Rf33678fbd3ae4a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docs/AUDIT_REMEDIATION_REGISTER.md (PROV-02, STALE-01)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data/processed/counterfactual_post_treatment_summary.csv</a:t>
            </a:r>
          </a:p>
          <a:p xmlns:a="http://schemas.openxmlformats.org/drawingml/2006/main">
            <a:r>
              <a:t>reports/figures/run_actual_vs_counterfactual.png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data/processed/block_conformal_summary.csv</a:t>
            </a:r>
          </a:p>
          <a:p xmlns:a="http://schemas.openxmlformats.org/drawingml/2006/main">
            <a:r>
              <a:t>data/processed/placebo_time_summary.csv</a:t>
            </a:r>
          </a:p>
          <a:p xmlns:a="http://schemas.openxmlformats.org/drawingml/2006/main">
            <a:r>
              <a:t>data/processed/spatial_placebo_summary.csv</a:t>
            </a:r>
          </a:p>
          <a:p xmlns:a="http://schemas.openxmlformats.org/drawingml/2006/main">
            <a:r>
              <a:t>data/processed/spatial_placebo_effects.csv</a:t>
            </a:r>
          </a:p>
          <a:p xmlns:a="http://schemas.openxmlformats.org/drawingml/2006/main">
            <a:r>
              <a:t>reports/figures/run_placebo_distribution.png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data/processed/synthetic_control_summary.csv</a:t>
            </a:r>
          </a:p>
          <a:p xmlns:a="http://schemas.openxmlformats.org/drawingml/2006/main">
            <a:r>
              <a:t>reports/figures/run_synthetic_control_path.png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data/processed/mechanism_evidence_summary.csv</a:t>
            </a:r>
          </a:p>
          <a:p xmlns:a="http://schemas.openxmlformats.org/drawingml/2006/main">
            <a:r>
              <a:t>data/processed/inferred_capacity_nautical_miles_comparison.csv</a:t>
            </a:r>
          </a:p>
          <a:p xmlns:a="http://schemas.openxmlformats.org/drawingml/2006/main">
            <a:r>
              <a:t>reports/figures/mechanism_evidence_summary.png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reports/run_output.md</a:t>
            </a:r>
          </a:p>
          <a:p xmlns:a="http://schemas.openxmlformats.org/drawingml/2006/main">
            <a:r>
              <a:t>reports/current_results_summary.md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docs/AUDIT_REMEDIATION_REGISTER.md (GOV-01, INF-01, STALE-01)</a:t>
            </a:r>
          </a:p>
          <a:p xmlns:a="http://schemas.openxmlformats.org/drawingml/2006/main">
            <a:r>
              <a:t>reports/reproducibility_run_transcript.txt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7b891f0df4ef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464baf46a4d64" /><Relationship Type="http://schemas.openxmlformats.org/officeDocument/2006/relationships/slideLayout" Target="/ppt/slideLayouts/slideLayout1.xml" Id="Rb77e437d699c45b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7e437d699c45b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23cb462ce4b8d" /><Relationship Type="http://schemas.openxmlformats.org/officeDocument/2006/relationships/notesSlide" Target="/ppt/notesSlides/notesSlide1.xml" Id="Rf00fbb9ac9304f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bb0e1001e438c" /><Relationship Type="http://schemas.openxmlformats.org/officeDocument/2006/relationships/notesSlide" Target="/ppt/notesSlides/notesSlide2.xml" Id="Rb80d8fc305544a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29429eb0469a" /><Relationship Type="http://schemas.openxmlformats.org/officeDocument/2006/relationships/image" Target="/ppt/media/image.png" Id="Rf639145cb7e444d4" /><Relationship Type="http://schemas.openxmlformats.org/officeDocument/2006/relationships/notesSlide" Target="/ppt/notesSlides/notesSlide3.xml" Id="R0c9edc76f0f449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cc3b5f8f94ede" /><Relationship Type="http://schemas.openxmlformats.org/officeDocument/2006/relationships/notesSlide" Target="/ppt/notesSlides/notesSlide4.xml" Id="Rf7ee37c9da29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e45b3bbc34d10" /><Relationship Type="http://schemas.openxmlformats.org/officeDocument/2006/relationships/image" Target="/ppt/media/image2.png" Id="Rc02af2759e3344cd" /><Relationship Type="http://schemas.openxmlformats.org/officeDocument/2006/relationships/notesSlide" Target="/ppt/notesSlides/notesSlide5.xml" Id="R95622cb08e14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179e1e434707" /><Relationship Type="http://schemas.openxmlformats.org/officeDocument/2006/relationships/image" Target="/ppt/media/image3.png" Id="R5ff3e8f2e45a4832" /><Relationship Type="http://schemas.openxmlformats.org/officeDocument/2006/relationships/image" Target="/ppt/media/image4.png" Id="Rcab0fad32e8d4474" /><Relationship Type="http://schemas.openxmlformats.org/officeDocument/2006/relationships/notesSlide" Target="/ppt/notesSlides/notesSlide6.xml" Id="Rdbd30ea58c1444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2fd51584a4961" /><Relationship Type="http://schemas.openxmlformats.org/officeDocument/2006/relationships/image" Target="/ppt/media/image5.png" Id="R358bb562fe29416c" /><Relationship Type="http://schemas.openxmlformats.org/officeDocument/2006/relationships/notesSlide" Target="/ppt/notesSlides/notesSlide7.xml" Id="Rf292507922594b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01455ef904df7" /><Relationship Type="http://schemas.openxmlformats.org/officeDocument/2006/relationships/image" Target="/ppt/media/image6.png" Id="R2ef9a994e2e74bac" /><Relationship Type="http://schemas.openxmlformats.org/officeDocument/2006/relationships/notesSlide" Target="/ppt/notesSlides/notesSlide8.xml" Id="Re3bff392fa68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c41092bf34ada" /><Relationship Type="http://schemas.openxmlformats.org/officeDocument/2006/relationships/image" Target="/ppt/media/image7.png" Id="R2e50ca5e478e423e" /><Relationship Type="http://schemas.openxmlformats.org/officeDocument/2006/relationships/notesSlide" Target="/ppt/notesSlides/notesSlide9.xml" Id="R04d4977e564b4f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df2d2ce134bd9" /><Relationship Type="http://schemas.openxmlformats.org/officeDocument/2006/relationships/notesSlide" Target="/ppt/notesSlides/notesSlide10.xml" Id="Raf8a216571f445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3E8DEE-8F79-42EB-B4ED-FBFE9145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73548C-3474-420E-9918-1CCD0EE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Bachelor Thesis · TUM · Supervisor Review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4CD13F-48A8-418E-9780-50025708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6070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Counterfactual Estimation of Tanker-Throughput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Disruption at the Strait of Hormuz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0C49DF-2900-43BB-835C-21AA5506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i="1">
                <a:solidFill>
                  <a:srgbClr val="AEB6CF"/>
                </a:solidFill>
                <a:latin typeface="Calibri"/>
                <a:ea typeface="Calibri"/>
                <a:cs typeface="Calibri"/>
              </a:rPr>
              <a:t>Forecasting and synthetic-control evidence from the 2026 episode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38F22B-8270-45A4-8408-799EE97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Mher Avetisyan   ·   mher.avetisyan@tum.de   ·   July 2026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610878C-E327-4889-BCF4-36425B9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6614385-D9DD-43F1-8EAE-33591250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 inference + corroboration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62DD604-5D73-46BC-8532-F314BA2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D39A46-6FED-425B-AE63-BC627EE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293 tests passing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F967618-2C40-45D0-8070-4A27C24B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55E2D9-AA81-4659-B80C-F6570CBC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Frozen inputs + artifacts verified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4B3C9-D5C7-4A9B-A989-C6300491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20640"/>
            <a:ext cx="256032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E3A6E"/>
          </a:solidFill>
          <a:ln xmlns:a="http://schemas.openxmlformats.org/drawingml/2006/main" w="12700">
            <a:solidFill>
              <a:srgbClr val="1C7293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8AF2CA-6E04-41CA-9107-9EB32F96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20640"/>
            <a:ext cx="2560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Free, immutable open data</a:t>
            </a:r>
          </a:p>
        </p:txBody>
      </p:sp>
    </p:spTree>
    <p:extLst>
      <p:ext uri="{BB962C8B-B14F-4D97-AF65-F5344CB8AC3E}">
        <p14:creationId xmlns:p14="http://schemas.microsoft.com/office/powerpoint/2010/main" val="1867034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483DB-D040-40B9-BB1D-58C3BFB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Research question &amp; estimand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B47404-0718-4A8E-A2A0-FAEBCC2A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66751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How large and persistent was the disruption-associated shortfall in observable daily tanker throughput through the Strait of Hormuz, relative to counterfactual paths estimated exclusively from pre-disruption data?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EACE49-DCE2-4CF7-AF3C-498CE48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036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Primary outcome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91947A4-93F1-4F58-A033-A6FB7EE2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80360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Daily tanker transit count (IMF PortWatch n_tanker)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67ED30-B871-4C18-BC2B-7E7E284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Robustness outcome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AB1B3B4-DE9C-44B5-B104-9DFE2888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538728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Daily deadweight capacity of transiting tankers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75031B-B797-4AB4-A7F2-3F904A84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7096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Estimand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B769BC-8CE6-43DF-8A9B-D0EECBE7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197096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Cumulative &amp; mean-daily observed-minus-counterfactual gap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CEAD041-BDAE-4BA3-A5EC-8B8AEB9B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5464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Reporting language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6DC6654-9EB9-4042-82A5-E6D2CCC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55464"/>
            <a:ext cx="4389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Disruption-associated counterfactual shortfall — not a causal ATT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A4599AB-9DEE-4364-85F9-ACBBF55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097280"/>
            <a:ext cx="4114800" cy="448056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DA58B1-42BC-4F39-94AA-09B2273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325880"/>
            <a:ext cx="3566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Why throughput, not freight rates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350E936-7339-4045-A7B2-C2848698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874520"/>
            <a:ext cx="3657600" cy="3566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Bloomberg / Spark LNG freight access is unconfirmed.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Committed fallback: a free, fully reproducible throughput DV.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The LNG freight-rate outcome is additive upside if access arrives.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Estimand realignment is drafted and pending Prof. Li sign-off.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59C2474-E10F-43FE-986C-B9E98BAD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PENDING_ESTIMAND_REALIGNMENT_DRAFT.md · IMF PortWatch · proposal-vs-thesis reconciliation pending supervisor approval</a:t>
            </a:r>
          </a:p>
        </p:txBody>
      </p:sp>
    </p:spTree>
    <p:extLst>
      <p:ext uri="{BB962C8B-B14F-4D97-AF65-F5344CB8AC3E}">
        <p14:creationId xmlns:p14="http://schemas.microsoft.com/office/powerpoint/2010/main" val="621532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0F400F-B8BE-4865-B3C7-6F93B5E6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Where the project stands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9145cb7e444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80160" y="868680"/>
            <a:ext cx="9601200" cy="5577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94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7D8AA0E-6303-4ECA-885C-EE909466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"/>
            <a:ext cx="914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Methodological discipline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45A7A39-B7D9-4876-A50D-1AE4D005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46738E-F0D8-4DE8-B109-7ACEBD0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6CDC3E-7D97-4B47-B718-40A32451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097280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Free, immutable data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E6A025-6018-4FF6-B699-DB2FDDE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033272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PortWatch, EIA, FRED, Global Fishing Watch, WTO/AXSMarine — snapshotted and SHA-256 hashed.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493A01-15F7-476B-8A66-F5C49C9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908182-C1C1-49DB-AD07-12708BE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4144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EA4917-5E49-4E74-A64F-D462A29B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95728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Locked primary estimator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38FBA6-1C85-491E-91B1-6BAC4C98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1720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AR(1,7) with weekly seasonality, trained strictly on pre-disruption days. No post-treatment covariate can enter.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5A54EC-FAE1-46D6-A8E4-597D2192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A82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4B3878-8020-4EA9-8C59-56286FB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E2B3E4-2FF8-46C1-8B5C-D39F390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694176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Leakage-safe validation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DAD1F1-412F-4729-835B-9C39370A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30168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Chronological rolling-origin CV; cutoff fixed at 2026-02-28; later event dates are scoring windows only.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9577C62-1618-4440-A7BC-02A17D7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3834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8FE6541-4CD2-4DA0-B766-ED1391A9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38344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2A2620C-0462-4140-9B2B-612C9D48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92624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Identification, not fit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71030E3-4B72-4268-8F89-0B05D65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28616"/>
            <a:ext cx="6675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The claim rests on observed-minus-counterfactual + donor design — never on forecast accuracy. A better forecaster is not causal evidence.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9C2035-381B-41FC-93E0-F75B46D8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CLAUDE.md discipline rules · EVENT_CHRONOLOGY.md · src/lngfreight/{validation,baselines,inference}.py</a:t>
            </a:r>
          </a:p>
        </p:txBody>
      </p:sp>
    </p:spTree>
    <p:extLst>
      <p:ext uri="{BB962C8B-B14F-4D97-AF65-F5344CB8AC3E}">
        <p14:creationId xmlns:p14="http://schemas.microsoft.com/office/powerpoint/2010/main" val="135394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1A8258-95A7-42C2-B610-DA1D11E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Headline result · the throughput collapse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af2759e3344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8412480" cy="512064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43F336C8-BAF8-4F77-9AA3-4BCF72CC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05156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65EACF7-B106-4DC6-BC87-EDC8FAB7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16128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392B"/>
                </a:solidFill>
                <a:latin typeface="Georgia"/>
                <a:ea typeface="Georgia"/>
                <a:cs typeface="Georgia"/>
              </a:rPr>
              <a:t>6,869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C5EF8E-F2E5-47F6-A7F4-42F5508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90195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transits below counterfactual (130 days)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D942D75-0F6A-45A9-B00E-486F94B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0604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C0392B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6F2EA52-C41D-4E2A-859E-009587A0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1576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0392B"/>
                </a:solidFill>
                <a:latin typeface="Georgia"/>
                <a:ea typeface="Georgia"/>
                <a:cs typeface="Georgia"/>
              </a:rPr>
              <a:t>52.8 / day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04C6B53-FE7C-4993-9431-F02D390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45643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mean daily shortfall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F5394D36-33AB-4691-824E-91A026A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16052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065A82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6418D8A-18F2-4894-930D-28BE905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270248"/>
            <a:ext cx="2697480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−92.8%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87734EA-1BE8-4B99-AB09-7E3BC89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10912"/>
            <a:ext cx="2514600" cy="510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observed below counterfactual throughput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0875699-57E9-4C60-B2A9-52F49D7F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AR-only counterfactual · IMF PortWatch n_tanker · disruption-associated descriptive shortfall · AIS-dark-vessel upper-bound risk · not LNG-specific freight</a:t>
            </a:r>
          </a:p>
        </p:txBody>
      </p:sp>
    </p:spTree>
    <p:extLst>
      <p:ext uri="{BB962C8B-B14F-4D97-AF65-F5344CB8AC3E}">
        <p14:creationId xmlns:p14="http://schemas.microsoft.com/office/powerpoint/2010/main" val="151001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28054A-44DF-4327-868B-190D27D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Diagnostics · placebo-in-time and placebo-in-space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3e8f2e45a483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20040" y="914400"/>
            <a:ext cx="6126480" cy="3108960"/>
          </a:xfrm>
          <a:prstGeom xmlns:a="http://schemas.openxmlformats.org/drawingml/2006/main" prst="rect">
            <a:avLst/>
          </a:prstGeom>
        </p:spPr>
      </p:pic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0fad32e8d44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00800" y="868680"/>
            <a:ext cx="5486400" cy="5120640"/>
          </a:xfrm>
          <a:prstGeom xmlns:a="http://schemas.openxmlformats.org/drawingml/2006/main" prst="rect">
            <a:avLst/>
          </a:prstGeom>
        </p:spPr>
      </p:pic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9502328C-38D2-4385-BF18-FCAEB667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06240"/>
            <a:ext cx="6035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Time: 7 disjoint blocks give rank p = 0.125; nominal 95% conformal interval is unbounded.</a:t>
            </a:r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3D51E23-C223-448D-9E26-5276D37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6035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Space: Hormuz ranks #1; normalized loss is 93.1% and 4.6× the all-donor p95.</a:t>
            </a:r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6D4802BA-BDDD-41E3-832A-E7FEE99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35 overlapping placebo windows are descriptive only (reference rank 1/36, not p) · normalized spatial loss leads because raw counts are scale-confounded</a:t>
            </a:r>
          </a:p>
        </p:txBody>
      </p:sp>
    </p:spTree>
    <p:extLst>
      <p:ext uri="{BB962C8B-B14F-4D97-AF65-F5344CB8AC3E}">
        <p14:creationId xmlns:p14="http://schemas.microsoft.com/office/powerpoint/2010/main" val="1104500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3DAEA1-6C8B-4C50-968A-B5A7C9E4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Corroboration · donor-weighted synthetic control</a:t>
            </a:r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bb562fe2941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8229600" cy="502920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13552F1A-DAC8-4652-B1B5-C8476A8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05156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065A82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BB8C835-BB66-412A-970A-4DDDB0B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16128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65A82"/>
                </a:solidFill>
                <a:latin typeface="Georgia"/>
                <a:ea typeface="Georgia"/>
                <a:cs typeface="Georgia"/>
              </a:rPr>
              <a:t>0.258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506031-76DE-4CA5-8084-195C9195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4708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pre-period RMSPE (mean-scaled)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CE1D45E-8FEC-4083-80BC-3E01E05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1460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33C1FAB-1CB3-4382-A335-470DEA65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2432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8449"/>
                </a:solidFill>
                <a:latin typeface="Georgia"/>
                <a:ea typeface="Georgia"/>
                <a:cs typeface="Georgia"/>
              </a:rPr>
              <a:t>3.25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1B077F-ACAB-47F7-B8B2-DF993AF0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31012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post / pre RMSPE ratio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A958099-0FE0-481C-883C-E291B66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977640"/>
            <a:ext cx="269748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7947351-8A56-4504-BC43-BDAD548E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87368"/>
            <a:ext cx="2697480" cy="729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8449"/>
                </a:solidFill>
                <a:latin typeface="Georgia"/>
                <a:ea typeface="Georgia"/>
                <a:cs typeface="Georgia"/>
              </a:rPr>
              <a:t>2.17×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D743232-B857-4203-8797-1235C69F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773168"/>
            <a:ext cx="2514600" cy="477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vs screened p95 · rank p = 0.067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82E5D85-177E-44C1-8CBA-B5AC31E5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2× pre-fit screen: 14/22 placebos eligible, 8 excluded · clean donor pool · mean-scaled shape match · corroboration, not an independent design</a:t>
            </a:r>
          </a:p>
        </p:txBody>
      </p:sp>
    </p:spTree>
    <p:extLst>
      <p:ext uri="{BB962C8B-B14F-4D97-AF65-F5344CB8AC3E}">
        <p14:creationId xmlns:p14="http://schemas.microsoft.com/office/powerpoint/2010/main" val="278038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C959D3-BAAE-405C-BA94-073F366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LNG mechanism · fewer voyages; retained-voyage mean rises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9a994e2e74ba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65760" y="868680"/>
            <a:ext cx="7955280" cy="49377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514EC30-1478-475C-B3ED-CFE996B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051560"/>
            <a:ext cx="320040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BF1F5"/>
          </a:solidFill>
          <a:ln xmlns:a="http://schemas.openxmlformats.org/drawingml/2006/main" w="19050">
            <a:solidFill>
              <a:srgbClr val="1E8449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65466F9-B42D-4D94-B50B-0538BE0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23444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21295C"/>
                </a:solidFill>
                <a:latin typeface="Georgia"/>
                <a:ea typeface="Georgia"/>
                <a:cs typeface="Georgia"/>
              </a:rPr>
              <a:t>Distinct descriptive cross-check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E8C486C-9E98-4F2B-A434-3C470C72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91640"/>
            <a:ext cx="27889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WTO/AXSMarine LNG outbound index: </a:t>
            </a: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−98.3%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Inferred Gulf departure calls</a:t>
            </a:r>
            <a:r>
              <a:rPr sz="1200">
                <a:solidFill>
                  <a:srgbClr val="212F3D"/>
                </a:solidFill>
                <a:latin typeface="Calibri"/>
                <a:ea typeface="Calibri"/>
                <a:cs typeface="Calibri"/>
              </a:rPr>
              <a:t>: −93.0%</a:t>
            </a:r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b="1">
                <a:solidFill>
                  <a:srgbClr val="1E8449"/>
                </a:solidFill>
                <a:latin typeface="Calibri"/>
                <a:ea typeface="Calibri"/>
                <a:cs typeface="Calibri"/>
              </a:rPr>
              <a:t>Retained-voyage mean capacity-distance: +10.2%.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129CEC2-BA60-4D98-B2F6-6A5CD35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023360"/>
            <a:ext cx="32004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Observed aggregate index, inferred terminal sequences, and modeled routes are partially dependent descriptive layers—not cargo ton-miles, laden state, freight rates, or causal effects.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8A09C37-63E7-481B-9ACE-38F065D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3952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7F8C8D"/>
                </a:solidFill>
                <a:latin typeface="Calibri"/>
                <a:ea typeface="Calibri"/>
                <a:cs typeface="Calibri"/>
              </a:rPr>
              <a:t>Source: data/processed/mechanism_evidence_summary.csv · reports/figures/mechanism_evidence_summary.png</a:t>
            </a:r>
          </a:p>
        </p:txBody>
      </p:sp>
    </p:spTree>
    <p:extLst>
      <p:ext uri="{BB962C8B-B14F-4D97-AF65-F5344CB8AC3E}">
        <p14:creationId xmlns:p14="http://schemas.microsoft.com/office/powerpoint/2010/main" val="765362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0ca5e478e423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40080" y="365760"/>
            <a:ext cx="10881360" cy="61264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736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29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E687AC2-28A4-4148-A8C4-5F8E760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6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CBE67A-F37E-4EF4-A2B3-AF4B742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720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Honest limitations &amp; what's next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C59F4D-43B2-4190-93DC-D2B61BFE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430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AEB6CF"/>
                </a:solidFill>
                <a:latin typeface="Calibri"/>
                <a:ea typeface="Calibri"/>
                <a:cs typeface="Calibri"/>
              </a:rPr>
              <a:t>Stated plainly — these are defensible, not hidden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852331-A979-4A46-857A-45FE3F60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Limitations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241F3A-88C1-4CC6-A9DC-D1E16B97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5120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AIS-dark vessels may inflate the measured collapse → upper-bound risk.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7 disjoint blocks: rank p = 0.125; nominal 95% conformal interval unbounded.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Outcome is tanker throughput, not LNG-specific freight.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Mechanism evidence is descriptive, not causal.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3103DF-364D-4AE1-B76B-3F52213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02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C7293"/>
                </a:solidFill>
                <a:latin typeface="Georgia"/>
                <a:ea typeface="Georgia"/>
                <a:cs typeface="Georgia"/>
              </a:rPr>
              <a:t>Critical path &amp; next steps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E5AB9DB-EB87-4CFF-B799-F76445C7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86000"/>
            <a:ext cx="51206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Prof. Li or delegated-authority decision on the throughput-DV realignment.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Preserve the verified 49-stage run and frozen provenance contract.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Thesis write-up — empirical scope complete; claims remain descriptive.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300">
                <a:solidFill>
                  <a:srgbClr val="E5E9F2"/>
                </a:solidFill>
                <a:latin typeface="Calibri"/>
                <a:ea typeface="Calibri"/>
                <a:cs typeface="Calibri"/>
              </a:rPr>
              <a:t>Spark / Bloomberg freight outcome — optional, non-blocking upside.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D8805D-AA97-42FD-A550-F2596ECC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436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Committed-scope empirical work complete · remaining critical path: governance decision, writing, and supervisor review.</a:t>
            </a:r>
          </a:p>
        </p:txBody>
      </p:sp>
    </p:spTree>
    <p:extLst>
      <p:ext uri="{BB962C8B-B14F-4D97-AF65-F5344CB8AC3E}">
        <p14:creationId xmlns:p14="http://schemas.microsoft.com/office/powerpoint/2010/main" val="5196490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2026-07-28T14:35:23.1740000Z</dcterms:created>
  <dcterms:modified xsi:type="dcterms:W3CDTF">2026-07-28T14:35:23.1740000Z</dcterms:modified>
</coreProperties>
</file>