
<file path=[Content_Types].xml><?xml version="1.0" encoding="utf-8"?>
<Types xmlns="http://schemas.openxmlformats.org/package/2006/content-types">
  <Default Extension="xml" ContentType="application/vnd.openxmlformats-package.core-properties+xml"/>
  <Default Extension="wmf" ContentType="image/x-wmf"/>
  <Default Extension="emf" ContentType="image/x-emf"/>
  <Default Extension="svg" ContentType="image/svg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286e4337734aed" /><Relationship Type="http://schemas.openxmlformats.org/officeDocument/2006/relationships/extended-properties" Target="/docProps/app.xml" Id="R0bdfe998a94d4463" /><Relationship Type="http://schemas.openxmlformats.org/officeDocument/2006/relationships/officeDocument" Target="/ppt/presentation.xml" Id="Re53c1645af5141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c7e554001846e5"/>
    <p:sldMasterId xmlns:r="http://schemas.openxmlformats.org/officeDocument/2006/relationships" id="2147483660" r:id="Rbc550f14a58b4233"/>
    <p:sldMasterId xmlns:r="http://schemas.openxmlformats.org/officeDocument/2006/relationships" id="2147483662" r:id="R9170daa20f9c4c7b"/>
  </p:sldMasterIdLst>
  <p:notesMasterIdLst>
    <p:notesMasterId xmlns:r="http://schemas.openxmlformats.org/officeDocument/2006/relationships" r:id="Ra8a4507569964ac0"/>
  </p:notesMasterIdLst>
  <p:sldIdLst>
    <p:sldId xmlns:r="http://schemas.openxmlformats.org/officeDocument/2006/relationships" id="256" r:id="R24d04e7c7865443c"/>
    <p:sldId xmlns:r="http://schemas.openxmlformats.org/officeDocument/2006/relationships" id="257" r:id="R927fa6d64ad34880"/>
    <p:sldId xmlns:r="http://schemas.openxmlformats.org/officeDocument/2006/relationships" id="258" r:id="R80c94c80d32f4b42"/>
    <p:sldId xmlns:r="http://schemas.openxmlformats.org/officeDocument/2006/relationships" id="259" r:id="R07590b9d1ee14851"/>
    <p:sldId xmlns:r="http://schemas.openxmlformats.org/officeDocument/2006/relationships" id="260" r:id="R825d507b014c401c"/>
    <p:sldId xmlns:r="http://schemas.openxmlformats.org/officeDocument/2006/relationships" id="261" r:id="R6088992b2ac84886"/>
    <p:sldId xmlns:r="http://schemas.openxmlformats.org/officeDocument/2006/relationships" id="262" r:id="Rcd1cc14fbfaf4eba"/>
    <p:sldId xmlns:r="http://schemas.openxmlformats.org/officeDocument/2006/relationships" id="263" r:id="Rf5f6c7099bb3444b"/>
    <p:sldId xmlns:r="http://schemas.openxmlformats.org/officeDocument/2006/relationships" id="264" r:id="R1b60a1bb29494569"/>
    <p:sldId xmlns:r="http://schemas.openxmlformats.org/officeDocument/2006/relationships" id="265" r:id="R57141cade5d743b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36004" cy="36004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345c6987934d17" /><Relationship Type="http://schemas.openxmlformats.org/officeDocument/2006/relationships/slideMaster" Target="/ppt/slideMasters/slideMaster1.xml" Id="R0bc7e554001846e5" /><Relationship Type="http://schemas.openxmlformats.org/officeDocument/2006/relationships/slideMaster" Target="/ppt/slideMasters/slideMaster2.xml" Id="Rbc550f14a58b4233" /><Relationship Type="http://schemas.openxmlformats.org/officeDocument/2006/relationships/slideMaster" Target="/ppt/slideMasters/slideMaster3.xml" Id="R9170daa20f9c4c7b" /><Relationship Type="http://schemas.openxmlformats.org/officeDocument/2006/relationships/notesMaster" Target="/ppt/notesMasters/notesMaster1.xml" Id="Ra8a4507569964ac0" /><Relationship Type="http://schemas.openxmlformats.org/officeDocument/2006/relationships/presProps" Target="/ppt/presProps.xml" Id="Rabb17ad4f6b64823" /><Relationship Type="http://schemas.openxmlformats.org/officeDocument/2006/relationships/viewProps" Target="/ppt/viewProps.xml" Id="Ra45bfc22bedb456d" /><Relationship Type="http://schemas.openxmlformats.org/officeDocument/2006/relationships/tableStyles" Target="/ppt/tableStyles.xml" Id="R10dd8395489c4f87" /><Relationship Type="http://schemas.openxmlformats.org/officeDocument/2006/relationships/slide" Target="/ppt/slides/slide1.xml" Id="R24d04e7c7865443c" /><Relationship Type="http://schemas.openxmlformats.org/officeDocument/2006/relationships/slide" Target="/ppt/slides/slide2.xml" Id="R927fa6d64ad34880" /><Relationship Type="http://schemas.openxmlformats.org/officeDocument/2006/relationships/slide" Target="/ppt/slides/slide3.xml" Id="R80c94c80d32f4b42" /><Relationship Type="http://schemas.openxmlformats.org/officeDocument/2006/relationships/slide" Target="/ppt/slides/slide4.xml" Id="R07590b9d1ee14851" /><Relationship Type="http://schemas.openxmlformats.org/officeDocument/2006/relationships/slide" Target="/ppt/slides/slide5.xml" Id="R825d507b014c401c" /><Relationship Type="http://schemas.openxmlformats.org/officeDocument/2006/relationships/slide" Target="/ppt/slides/slide6.xml" Id="R6088992b2ac84886" /><Relationship Type="http://schemas.openxmlformats.org/officeDocument/2006/relationships/slide" Target="/ppt/slides/slide7.xml" Id="Rcd1cc14fbfaf4eba" /><Relationship Type="http://schemas.openxmlformats.org/officeDocument/2006/relationships/slide" Target="/ppt/slides/slide8.xml" Id="Rf5f6c7099bb3444b" /><Relationship Type="http://schemas.openxmlformats.org/officeDocument/2006/relationships/slide" Target="/ppt/slides/slide9.xml" Id="R1b60a1bb29494569" /><Relationship Type="http://schemas.openxmlformats.org/officeDocument/2006/relationships/slide" Target="/ppt/slides/slide10.xml" Id="R57141cade5d743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f2b7502244d43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BGD Standar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606baab018466a" /><Relationship Type="http://schemas.openxmlformats.org/officeDocument/2006/relationships/notesMaster" Target="/ppt/notesMasters/notesMaster1.xml" Id="R0cf1f271607042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829bdcbcc54405" /><Relationship Type="http://schemas.openxmlformats.org/officeDocument/2006/relationships/notesMaster" Target="/ppt/notesMasters/notesMaster1.xml" Id="R17ec456a507a46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96342d135047c6" /><Relationship Type="http://schemas.openxmlformats.org/officeDocument/2006/relationships/notesMaster" Target="/ppt/notesMasters/notesMaster1.xml" Id="Rb70b4f5bf24e42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f766a6d8cc46fe" /><Relationship Type="http://schemas.openxmlformats.org/officeDocument/2006/relationships/notesMaster" Target="/ppt/notesMasters/notesMaster1.xml" Id="R291ef9410abd43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4b6f4b4de64453" /><Relationship Type="http://schemas.openxmlformats.org/officeDocument/2006/relationships/notesMaster" Target="/ppt/notesMasters/notesMaster1.xml" Id="Rac4db23a03dd45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0cedc86a8a419a" /><Relationship Type="http://schemas.openxmlformats.org/officeDocument/2006/relationships/notesMaster" Target="/ppt/notesMasters/notesMaster1.xml" Id="R8041416f107946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79073904b64f19" /><Relationship Type="http://schemas.openxmlformats.org/officeDocument/2006/relationships/notesMaster" Target="/ppt/notesMasters/notesMaster1.xml" Id="Ra30a969a487c47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3182cbaedf40c6" /><Relationship Type="http://schemas.openxmlformats.org/officeDocument/2006/relationships/notesMaster" Target="/ppt/notesMasters/notesMaster1.xml" Id="R52903dcdae5340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655f400d92438e" /><Relationship Type="http://schemas.openxmlformats.org/officeDocument/2006/relationships/notesMaster" Target="/ppt/notesMasters/notesMaster1.xml" Id="R3629286e455545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a6b21d186d4496" /><Relationship Type="http://schemas.openxmlformats.org/officeDocument/2006/relationships/notesMaster" Target="/ppt/notesMasters/notesMaster1.xml" Id="R0425e647e03645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reports/reproducibility_run_transcript.txt</a:t>
            </a:r>
          </a:p>
          <a:p xmlns:a="http://schemas.openxmlformats.org/drawingml/2006/main">
            <a:r>
              <a:t>docs/AUDIT_REMEDIATION_REGISTER.md (PROV-02, STALE-01)</a:t>
            </a:r>
          </a:p>
          <a:p xmlns:a="http://schemas.openxmlformats.org/drawingml/2006/main">
            <a:r>
              <a:t>Official TUM Engineering &amp; Design slide master: https://www.bgd.ed.tum.de/en/teaching/thesis-opportunities/templates.html</a:t>
            </a:r>
          </a:p>
          <a:p xmlns:a="http://schemas.openxmlformats.org/drawingml/2006/main">
            <a:r>
              <a:t>TUM corporate-design template access guidance: https://www.it.tum.de/en/it/faq/media-production-design/corporate-design/where-can-i-find-templates-for-the-tum-corporate-design/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config/settings.yaml</a:t>
            </a:r>
          </a:p>
          <a:p xmlns:a="http://schemas.openxmlformats.org/drawingml/2006/main">
            <a:r>
              <a:t>docs/PENDING_ESTIMAND_REALIGNMENT_DRAFT.md</a:t>
            </a:r>
          </a:p>
          <a:p xmlns:a="http://schemas.openxmlformats.org/drawingml/2006/main">
            <a:r>
              <a:t>docs/ESTIMAND_PROPOSAL_RECONCILIATION.md</a:t>
            </a:r>
          </a:p>
          <a:p xmlns:a="http://schemas.openxmlformats.org/drawingml/2006/main">
            <a:r>
              <a:t>docs/SPARK_REENTRY.md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docs/CURRENT_PLAN.md</a:t>
            </a:r>
          </a:p>
          <a:p xmlns:a="http://schemas.openxmlformats.org/drawingml/2006/main">
            <a:r>
              <a:t>reports/figures/presentation/fig_roadmap.png</a:t>
            </a:r>
          </a:p>
          <a:p xmlns:a="http://schemas.openxmlformats.org/drawingml/2006/main">
            <a:r>
              <a:t>docs/ESTIMAND_PROPOSAL_RECONCILIATION.md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config/settings.yaml</a:t>
            </a:r>
          </a:p>
          <a:p xmlns:a="http://schemas.openxmlformats.org/drawingml/2006/main">
            <a:r>
              <a:t>docs/EVENT_CHRONOLOGY.md</a:t>
            </a:r>
          </a:p>
          <a:p xmlns:a="http://schemas.openxmlformats.org/drawingml/2006/main">
            <a:r>
              <a:t>docs/DATA_SOURCES.md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data/processed/counterfactual_post_treatment.csv</a:t>
            </a:r>
          </a:p>
          <a:p xmlns:a="http://schemas.openxmlformats.org/drawingml/2006/main">
            <a:r>
              <a:t>data/processed/counterfactual_post_treatment_summary.csv</a:t>
            </a:r>
          </a:p>
          <a:p xmlns:a="http://schemas.openxmlformats.org/drawingml/2006/main">
            <a:r>
              <a:t>reports/current_results_summary.md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data/processed/block_placebo_effects.csv</a:t>
            </a:r>
          </a:p>
          <a:p xmlns:a="http://schemas.openxmlformats.org/drawingml/2006/main">
            <a:r>
              <a:t>data/processed/block_conformal_summary.csv</a:t>
            </a:r>
          </a:p>
          <a:p xmlns:a="http://schemas.openxmlformats.org/drawingml/2006/main">
            <a:r>
              <a:t>data/processed/placebo_time_summary.csv</a:t>
            </a:r>
          </a:p>
          <a:p xmlns:a="http://schemas.openxmlformats.org/drawingml/2006/main">
            <a:r>
              <a:t>data/processed/spatial_placebo_summary.csv</a:t>
            </a:r>
          </a:p>
          <a:p xmlns:a="http://schemas.openxmlformats.org/drawingml/2006/main">
            <a:r>
              <a:t>data/processed/spatial_placebo_effects.csv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data/processed/synthetic_control_daily.csv</a:t>
            </a:r>
          </a:p>
          <a:p xmlns:a="http://schemas.openxmlformats.org/drawingml/2006/main">
            <a:r>
              <a:t>data/processed/synthetic_control_summary.csv</a:t>
            </a:r>
          </a:p>
          <a:p xmlns:a="http://schemas.openxmlformats.org/drawingml/2006/main">
            <a:r>
              <a:t>reports/current_results_summary.md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data/processed/mechanism_evidence_summary.csv</a:t>
            </a:r>
          </a:p>
          <a:p xmlns:a="http://schemas.openxmlformats.org/drawingml/2006/main">
            <a:r>
              <a:t>data/processed/inferred_capacity_nautical_miles_comparison.csv</a:t>
            </a:r>
          </a:p>
          <a:p xmlns:a="http://schemas.openxmlformats.org/drawingml/2006/main">
            <a:r>
              <a:t>reports/mechanism_results_summary.md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reports/current_results_summary.md</a:t>
            </a:r>
          </a:p>
          <a:p xmlns:a="http://schemas.openxmlformats.org/drawingml/2006/main">
            <a:r>
              <a:t>reports/run_output.md</a:t>
            </a:r>
          </a:p>
          <a:p xmlns:a="http://schemas.openxmlformats.org/drawingml/2006/main">
            <a:r>
              <a:t>reports/reproducibility_run_transcript.txt</a:t>
            </a:r>
          </a:p>
          <a:p xmlns:a="http://schemas.openxmlformats.org/drawingml/2006/main">
            <a:r>
              <a:t>data/processed/mechanism_evidence_summary.csv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docs/AUDIT_REMEDIATION_REGISTER.md (GOV-01, INF-01, STALE-01)</a:t>
            </a:r>
          </a:p>
          <a:p xmlns:a="http://schemas.openxmlformats.org/drawingml/2006/main">
            <a:r>
              <a:t>reports/reproducibility_run_transcript.txt</a:t>
            </a:r>
          </a:p>
          <a:p xmlns:a="http://schemas.openxmlformats.org/drawingml/2006/main">
            <a:r>
              <a:t>docs/ESTIMAND_PROPOSAL_RECONCILIATION.md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a53688371443e" /><Relationship Type="http://schemas.openxmlformats.org/officeDocument/2006/relationships/image" Target="/ppt/media/image2.jpeg" Id="R844e26292e6147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2932a34744517" /><Relationship Type="http://schemas.openxmlformats.org/officeDocument/2006/relationships/image" Target="/ppt/media/image.png" Id="Reb4c9880d4d44d8f" /><Relationship Type="http://schemas.openxmlformats.org/officeDocument/2006/relationships/image" Target="/ppt/media/image.jpeg" Id="Rdfb6a45bc9f244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4e1e13d184b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29e2f64f84623" /><Relationship Type="http://schemas.openxmlformats.org/officeDocument/2006/relationships/image" Target="/ppt/media/image.png" Id="R3feeeb0327344c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c7544634048e3" /><Relationship Type="http://schemas.openxmlformats.org/officeDocument/2006/relationships/image" Target="/ppt/media/image2.png" Id="Rd80b7c713cab49c8" /><Relationship Type="http://schemas.openxmlformats.org/officeDocument/2006/relationships/image" Target="/ppt/media/image.emf" Id="Rd5f448982a5546ad" /><Relationship Type="http://schemas.openxmlformats.org/officeDocument/2006/relationships/image" Target="/ppt/media/image.jpeg" Id="R5793a233cecf48fd" /><Relationship Type="http://schemas.openxmlformats.org/officeDocument/2006/relationships/image" Target="/ppt/media/image2.svg" Id="Rff0c6a16319346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d0e8153764a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f7a70e79e497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158c5942646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8370e457b437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a1cbcbb7443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074da9d304bf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725c9a6718493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a821ce4f94e41b5" /></Relationships>
</file>

<file path=ppt/slideLayouts/slideLayout1.xml><?xml version="1.0" encoding="utf-8"?>
<p:sldLayout xmlns:p="http://schemas.openxmlformats.org/presentationml/2006/main" preserve="1" userDrawn="1">
  <p:cSld name="0_Title_TUM Standar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Bild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e26292e6147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6388" y="1854635"/>
            <a:ext cx="3437558" cy="3000349"/>
          </a:xfrm>
          <a:prstGeom xmlns:a="http://schemas.openxmlformats.org/drawingml/2006/main" prst="rect">
            <a:avLst/>
          </a:prstGeom>
        </p:spPr>
      </p:pic>
      <p:sp useBgFill="1"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669AAB6D-A760-49D0-9310-0E505503D1D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287340" y="2138363"/>
            <a:ext cx="4840275" cy="2593973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 baseline="0"/>
            </a:lvl3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Referent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Technical University of Munich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TUM School of Engineering and Design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Professorship for Big Geospatial Data Management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Munich, </a:t>
            </a: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15 April 2024</a:t>
            </a:r>
          </a:p>
        </p:txBody>
      </p:sp>
      <p:sp useBgFill="1"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9AA28C84-EFD3-450B-A014-35F8BFDE0EA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87338" y="1023938"/>
            <a:ext cx="8569324" cy="858426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3200" b="0"/>
            </a:lvl1pPr>
          </a:lstStyle>
          <a:p xmlns:a="http://schemas.openxmlformats.org/drawingml/2006/main">
            <a:pPr lvl="0">
              <a:buNone/>
            </a:pPr>
            <a:r>
              <a:t>Titel durch Klicken bearbeiten</a:t>
            </a:r>
          </a:p>
        </p:txBody>
      </p:sp>
      <p:sp useBgFill="1"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113EAC54-2C27-4EA0-B89F-2D5885F5A54F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fld id="{CE58CB1E-F828-4F11-99E0-327109AF9DA4}" type="slidenum">
              <a:rPr>
                <a:solidFill>
                  <a:prstClr val="black"/>
                </a:solidFill>
              </a:rPr>
              <a:t>‹Nr.›</a:t>
            </a:fld>
          </a:p>
        </p:txBody>
      </p:sp>
      <p:sp useBgFill="1"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EDA46652-A6C4-48BA-951F-6C60D9AD0D48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prstClr val="black"/>
                </a:solidFill>
              </a:rPr>
              <a:t>TUM | Professorship for Big Geospatial Data Management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0_Title_Martin Standar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Grafik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4c9880d4d44d8f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xmlns:a="http://schemas.openxmlformats.org/drawingml/2006/main" l="3338" t="0" r="9092" b="37152"/>
          <a:stretch xmlns:a="http://schemas.openxmlformats.org/drawingml/2006/main"/>
        </p:blipFill>
        <p:spPr>
          <a:xfrm xmlns:a="http://schemas.openxmlformats.org/drawingml/2006/main">
            <a:off x="2660399" y="2286000"/>
            <a:ext cx="6488104" cy="2850570"/>
          </a:xfrm>
          <a:prstGeom xmlns:a="http://schemas.openxmlformats.org/drawingml/2006/main" prst="rect">
            <a:avLst/>
          </a:prstGeom>
        </p:spPr>
      </p:pic>
      <p:sp useBgFill="1"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CFD324A9-653C-4932-947B-B3DEAB352AB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87338" y="1023938"/>
            <a:ext cx="8569324" cy="858426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3200" b="0"/>
            </a:lvl1pPr>
          </a:lstStyle>
          <a:p xmlns:a="http://schemas.openxmlformats.org/drawingml/2006/main">
            <a:pPr lvl="0">
              <a:buNone/>
            </a:pPr>
            <a:r>
              <a:t>Titel durch Klicken bearbeiten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F60DDF2C-BCCB-4FDF-A35E-C48A874E261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fld id="{CE58CB1E-F828-4F11-99E0-327109AF9DA4}" type="slidenum">
              <a:rPr>
                <a:solidFill>
                  <a:prstClr val="black"/>
                </a:solidFill>
              </a:rPr>
              <a:t>‹Nr.›</a:t>
            </a:fld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47B16214-D040-45AD-A76D-A06E314DF894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prstClr val="black"/>
                </a:solidFill>
              </a:rPr>
              <a:t>TUM | Professorship for Big Geospatial Data Management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AB061E4-39B5-98A1-C914-1A4ADFE9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37" y="2123692"/>
            <a:ext cx="484027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/>
              <a:t>Prof. Dr. Martin Werner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/>
              <a:t>Technische Universität München</a:t>
            </a:r>
            <a:br/>
            <a:r>
              <a:rPr sz="1400"/>
              <a:t>School of Engineering and Design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/>
              <a:t>Professur für „Big Geospatial Data Management“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/>
              <a:t>martin.werner@tum.de</a:t>
            </a:r>
          </a:p>
        </p:txBody>
      </p:sp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b6a45bc9f244a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87338" y="3642482"/>
            <a:ext cx="1950558" cy="109718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0_Title_Own Image"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44153E9-D0E1-4B7D-9F97-6127BE5FCA36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287340" y="2138363"/>
            <a:ext cx="4840275" cy="2593973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 baseline="0"/>
            </a:lvl3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Referent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Technische Universität München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TUM School of Musterverfahren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Lehrstuhl für Mustertechnik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Ort, Datum (Schreibweise: 00. Januar 2015</a:t>
            </a: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 useBgFill="1"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BC571199-8488-4508-B510-8303C82AC72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87338" y="1023938"/>
            <a:ext cx="8569324" cy="858426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3200" b="0"/>
            </a:lvl1pPr>
          </a:lstStyle>
          <a:p xmlns:a="http://schemas.openxmlformats.org/drawingml/2006/main">
            <a:pPr lvl="0">
              <a:buNone/>
            </a:pPr>
            <a:r>
              <a:t>Titel durch Klicken bearbeiten</a:t>
            </a:r>
          </a:p>
        </p:txBody>
      </p:sp>
      <p:sp useBgFill="1"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BF43648B-B7F5-4C43-A272-AC9D5685935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fld id="{CE58CB1E-F828-4F11-99E0-327109AF9DA4}" type="slidenum">
              <a:rPr>
                <a:solidFill>
                  <a:prstClr val="black"/>
                </a:solidFill>
              </a:rPr>
              <a:t>‹Nr.›</a:t>
            </a:fld>
          </a:p>
        </p:txBody>
      </p:sp>
      <p:sp useBgFill="1"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B6CE7E96-24D4-41A9-AF82-934FFA9DE6D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prstClr val="black"/>
                </a:solidFill>
              </a:rPr>
              <a:t>TUM | Professorship for Big Geospatial Data Management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8590B2A1-4751-8992-1ACD-7B4BB90B7E2F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265420" y="2138363"/>
            <a:ext cx="3591243" cy="2593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0_Title_BGD Standard"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45CE959F-8B89-4D5F-87B5-AE68A700A52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287340" y="2138363"/>
            <a:ext cx="4840275" cy="2593973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 baseline="0"/>
            </a:lvl3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Referent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Technische Universität München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TUM School of Musterverfahren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Lehrstuhl für Mustertechnik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Ort, Datum (Schreibweise: 00. Januar 2015</a:t>
            </a: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 useBgFill="1"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75D3C646-A04C-4ADF-9EA5-853F59FF41E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87338" y="1023938"/>
            <a:ext cx="8569324" cy="858426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3200" b="0"/>
            </a:lvl1pPr>
          </a:lstStyle>
          <a:p xmlns:a="http://schemas.openxmlformats.org/drawingml/2006/main">
            <a:pPr lvl="0">
              <a:buNone/>
            </a:pPr>
            <a:r>
              <a:t>Titel durch Klicken bearbeiten</a:t>
            </a:r>
          </a:p>
        </p:txBody>
      </p:sp>
      <p:sp useBgFill="1"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FAC9842D-54D8-4579-BD1A-AA65580186B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fld id="{CE58CB1E-F828-4F11-99E0-327109AF9DA4}" type="slidenum">
              <a:rPr>
                <a:solidFill>
                  <a:prstClr val="black"/>
                </a:solidFill>
              </a:rPr>
              <a:t>‹Nr.›</a:t>
            </a:fld>
          </a:p>
        </p:txBody>
      </p:sp>
      <p:sp useBgFill="1"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A86FAE6-F4F5-493A-8AA5-3B0F2FC5C029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prstClr val="black"/>
                </a:solidFill>
              </a:rPr>
              <a:t>TUM | Professorship for Big Geospatial Data Management</a:t>
            </a:r>
          </a:p>
        </p:txBody>
      </p:sp>
      <p:pic>
        <p:nvPicPr>
          <p:cNvPr id="16" name="Grafik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eeeb0327344c9b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xmlns:a="http://schemas.openxmlformats.org/drawingml/2006/main" l="3338" t="0" r="44606" b="37152"/>
          <a:stretch xmlns:a="http://schemas.openxmlformats.org/drawingml/2006/main"/>
        </p:blipFill>
        <p:spPr>
          <a:xfrm xmlns:a="http://schemas.openxmlformats.org/drawingml/2006/main">
            <a:off x="4341970" y="1882364"/>
            <a:ext cx="4802030" cy="326113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0_Title_BGD Map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Grafik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0b7c713cab49c8"/>
          <a:srcRect xmlns:a="http://schemas.openxmlformats.org/drawingml/2006/main" l="0" t="0" r="0" b="12288"/>
          <a:stretch xmlns:a="http://schemas.openxmlformats.org/drawingml/2006/main"/>
        </p:blipFill>
        <p:spPr>
          <a:xfrm xmlns:a="http://schemas.openxmlformats.org/drawingml/2006/main">
            <a:off x="-1" y="612000"/>
            <a:ext cx="9144000" cy="45315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A9D3689-2A4E-AA0C-5D3D-30921855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88214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22000">
                <a:srgbClr val="000000"/>
              </a:gs>
              <a:gs pos="0">
                <a:srgbClr val="000000"/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</a:pPr>
          </a:p>
        </p:txBody>
      </p:sp>
      <p:sp>
        <p:nvSpPr>
          <p:cNvPr id="12" name="Titel 1">
            <a:extLst xmlns:a="http://schemas.openxmlformats.org/drawingml/2006/main">
              <a:ext uri="{FF2B5EF4-FFF2-40B4-BE49-F238E27FC236}">
                <a16:creationId xmlns:a16="http://schemas.microsoft.com/office/drawing/2014/main" id="{DD49A3E5-12E1-4626-AF1C-BB292450DAE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-1" y="0"/>
            <a:ext cx="9144000" cy="1882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288000" tIns="1022400" rIns="0" bIns="0" anchor="t"/>
          <a:lstStyle xmlns:a="http://schemas.openxmlformats.org/drawingml/2006/main">
            <a:lvl1pPr marL="0" indent="0" algn="l">
              <a:lnSpc>
                <a:spcPts val="3200"/>
              </a:lnSpc>
              <a:buNone/>
              <a:defRPr sz="2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Titel der Präsentation durch Klicken bearbeiten</a:t>
            </a:r>
          </a:p>
        </p:txBody>
      </p:sp>
      <p:pic>
        <p:nvPicPr>
          <p:cNvPr id="20" name="Bild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448982a5546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43999" y="288000"/>
            <a:ext cx="615600" cy="324000"/>
          </a:xfrm>
          <a:prstGeom xmlns:a="http://schemas.openxmlformats.org/drawingml/2006/main" prst="rect">
            <a:avLst/>
          </a:prstGeom>
        </p:spPr>
      </p:pic>
      <p:pic>
        <p:nvPicPr>
          <p:cNvPr id="21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3a233cecf48fd">
            <a:extLst>
              <a:ext uri="{96DAC541-7B7A-43D3-8B79-37D633B846F1}">
                <asvg:svgBlip xmlns:asvg="http://schemas.microsoft.com/office/drawing/2016/SVG/main" r:embed="Rff0c6a16319346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776000" y="288000"/>
            <a:ext cx="324000" cy="324000"/>
          </a:xfrm>
          <a:prstGeom xmlns:a="http://schemas.openxmlformats.org/drawingml/2006/main" prst="rect">
            <a:avLst/>
          </a:prstGeom>
        </p:spPr>
      </p:pic>
      <p:sp>
        <p:nvSpPr>
          <p:cNvPr id="6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0FF3F77D-2BF3-C4D3-33D2-69AA3CE8555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287340" y="2138363"/>
            <a:ext cx="4840275" cy="2593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 baseline="0"/>
            </a:lvl3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Referent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Technische Universität München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TUM School of Musterverfahren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Lehrstuhl für Mustertechnik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Ort, Datum (Schreibweise: 00. Januar 2015</a:t>
            </a: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1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8BB01888-797F-57CB-715D-398B98FED2C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774934" y="4854985"/>
            <a:ext cx="20808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9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‹Nr.›</a:t>
            </a:fld>
          </a:p>
        </p:txBody>
      </p:sp>
      <p:sp>
        <p:nvSpPr>
          <p:cNvPr id="13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2DA24F91-E6AB-0075-EEB5-11D1EF61B16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88000" y="4856400"/>
            <a:ext cx="64872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900" spc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TUM | Professorship for Big Geospatial Data Management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1_Standard"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91EB9AF5-E869-4EB4-92FD-70F8804BB97D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287339" y="1023937"/>
            <a:ext cx="8569324" cy="370839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 baseline="0"/>
            </a:lvl3pPr>
          </a:lstStyle>
          <a:p xmlns:a="http://schemas.openxmlformats.org/drawingml/2006/main">
            <a:pPr lvl="0">
              <a:buNone/>
            </a:pPr>
            <a:r>
              <a:t>Inhalt durch Klicken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</p:txBody>
      </p:sp>
      <p:sp useBgFill="1"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C6CBC8E2-B139-401D-A503-BF21673D87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87338" y="288000"/>
            <a:ext cx="7331824" cy="324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400" b="0"/>
            </a:lvl1pPr>
          </a:lstStyle>
          <a:p xmlns:a="http://schemas.openxmlformats.org/drawingml/2006/main">
            <a:pPr lvl="0">
              <a:buNone/>
            </a:pPr>
            <a:r>
              <a:t>Titel durch Klicken bearbeiten</a:t>
            </a:r>
          </a:p>
        </p:txBody>
      </p:sp>
      <p:sp useBgFill="1"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22B31836-FE6A-4070-A05F-6CF6AE14A55C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fld id="{CE58CB1E-F828-4F11-99E0-327109AF9DA4}" type="slidenum">
              <a:rPr>
                <a:solidFill>
                  <a:prstClr val="black"/>
                </a:solidFill>
              </a:rPr>
              <a:t>‹Nr.›</a:t>
            </a:fld>
          </a:p>
        </p:txBody>
      </p:sp>
      <p:sp useBgFill="1"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70656AA2-6B72-47D0-B4D4-62AD6A2C2A66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prstClr val="black"/>
                </a:solidFill>
              </a:rPr>
              <a:t>TUM | Professorship for Big Geospatial Data Management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1_Standard 2 Inhalte"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1404BFBB-5D96-4DA5-98EB-296301CF8C66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287339" y="1023937"/>
            <a:ext cx="4222749" cy="370839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 baseline="0"/>
            </a:lvl3pPr>
          </a:lstStyle>
          <a:p xmlns:a="http://schemas.openxmlformats.org/drawingml/2006/main">
            <a:pPr lvl="0">
              <a:buNone/>
            </a:pPr>
            <a:r>
              <a:t>Inhalt durch Klicken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</p:txBody>
      </p:sp>
      <p:sp useBgFill="1"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4207BF37-D63A-4093-9FBE-C8175A2DCE1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87338" y="288000"/>
            <a:ext cx="7331824" cy="324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400" b="0"/>
            </a:lvl1pPr>
          </a:lstStyle>
          <a:p xmlns:a="http://schemas.openxmlformats.org/drawingml/2006/main">
            <a:pPr lvl="0">
              <a:buNone/>
            </a:pPr>
            <a:r>
              <a:t>Titel durch Klicken bearbeiten</a:t>
            </a:r>
          </a:p>
        </p:txBody>
      </p:sp>
      <p:sp useBgFill="1"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8042574-93AA-44F2-978A-54F0CB5AC614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fld id="{CE58CB1E-F828-4F11-99E0-327109AF9DA4}" type="slidenum">
              <a:rPr>
                <a:solidFill>
                  <a:prstClr val="black"/>
                </a:solidFill>
              </a:rPr>
              <a:t>‹Nr.›</a:t>
            </a:fld>
          </a:p>
        </p:txBody>
      </p:sp>
      <p:sp useBgFill="1"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45B95D43-91DD-4E32-B6F0-6A939E412758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prstClr val="black"/>
                </a:solidFill>
              </a:rPr>
              <a:t>TUM | Professorship for Big Geospatial Data Management</a:t>
            </a:r>
          </a:p>
        </p:txBody>
      </p:sp>
      <p:sp useBgFill="1">
        <p:nvSpPr>
          <p:cNvPr id="2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146E3790-FF4C-C87E-7781-60C1CF852E1F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4633200" y="1022400"/>
            <a:ext cx="4222800" cy="370839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114000"/>
              </a:lnSpc>
              <a:buNone/>
              <a:defRPr sz="1400"/>
            </a:lvl1pPr>
            <a:lvl2pPr>
              <a:lnSpc>
                <a:spcPct val="114000"/>
              </a:lnSpc>
              <a:buNone/>
              <a:defRPr sz="1400"/>
            </a:lvl2pPr>
            <a:lvl3pPr>
              <a:buNone/>
              <a:defRPr sz="1400" baseline="0"/>
            </a:lvl3pPr>
          </a:lstStyle>
          <a:p xmlns:a="http://schemas.openxmlformats.org/drawingml/2006/main">
            <a:pPr lvl="0">
              <a:buNone/>
            </a:pPr>
            <a:r>
              <a:t>Inhalt durch Klicken bearbeiten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Fazit_4 Punk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platzhalter 28">
            <a:extLst xmlns:a="http://schemas.openxmlformats.org/drawingml/2006/main">
              <a:ext uri="{FF2B5EF4-FFF2-40B4-BE49-F238E27FC236}">
                <a16:creationId xmlns:a16="http://schemas.microsoft.com/office/drawing/2014/main" id="{8580F251-A062-4A10-84BD-39701A1ECE38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3485351" y="2755745"/>
            <a:ext cx="1174153" cy="1031197"/>
          </a:xfrm>
          <a:custGeom xmlns:a="http://schemas.openxmlformats.org/drawingml/2006/main">
            <a:gdLst>
              <a:gd name="connsiteX0" fmla="*/ 0 w 1557048"/>
              <a:gd name="connsiteY0" fmla="*/ 0 h 1418078"/>
              <a:gd name="connsiteX1" fmla="*/ 75714 w 1557048"/>
              <a:gd name="connsiteY1" fmla="*/ 0 h 1418078"/>
              <a:gd name="connsiteX2" fmla="*/ 69795 w 1557048"/>
              <a:gd name="connsiteY2" fmla="*/ 29317 h 1418078"/>
              <a:gd name="connsiteX3" fmla="*/ 171731 w 1557048"/>
              <a:gd name="connsiteY3" fmla="*/ 131253 h 1418078"/>
              <a:gd name="connsiteX4" fmla="*/ 273667 w 1557048"/>
              <a:gd name="connsiteY4" fmla="*/ 29317 h 1418078"/>
              <a:gd name="connsiteX5" fmla="*/ 267748 w 1557048"/>
              <a:gd name="connsiteY5" fmla="*/ 0 h 1418078"/>
              <a:gd name="connsiteX6" fmla="*/ 361909 w 1557048"/>
              <a:gd name="connsiteY6" fmla="*/ 0 h 1418078"/>
              <a:gd name="connsiteX7" fmla="*/ 366286 w 1557048"/>
              <a:gd name="connsiteY7" fmla="*/ 86203 h 1418078"/>
              <a:gd name="connsiteX8" fmla="*/ 1329236 w 1557048"/>
              <a:gd name="connsiteY8" fmla="*/ 1051847 h 1418078"/>
              <a:gd name="connsiteX9" fmla="*/ 1416344 w 1557048"/>
              <a:gd name="connsiteY9" fmla="*/ 1056236 h 1418078"/>
              <a:gd name="connsiteX10" fmla="*/ 1416344 w 1557048"/>
              <a:gd name="connsiteY10" fmla="*/ 1206021 h 1418078"/>
              <a:gd name="connsiteX11" fmla="*/ 1437833 w 1557048"/>
              <a:gd name="connsiteY11" fmla="*/ 1206021 h 1418078"/>
              <a:gd name="connsiteX12" fmla="*/ 1441453 w 1557048"/>
              <a:gd name="connsiteY12" fmla="*/ 1197281 h 1418078"/>
              <a:gd name="connsiteX13" fmla="*/ 1489334 w 1557048"/>
              <a:gd name="connsiteY13" fmla="*/ 1177448 h 1418078"/>
              <a:gd name="connsiteX14" fmla="*/ 1557048 w 1557048"/>
              <a:gd name="connsiteY14" fmla="*/ 1245162 h 1418078"/>
              <a:gd name="connsiteX15" fmla="*/ 1489334 w 1557048"/>
              <a:gd name="connsiteY15" fmla="*/ 1312876 h 1418078"/>
              <a:gd name="connsiteX16" fmla="*/ 1441453 w 1557048"/>
              <a:gd name="connsiteY16" fmla="*/ 1293043 h 1418078"/>
              <a:gd name="connsiteX17" fmla="*/ 1438944 w 1557048"/>
              <a:gd name="connsiteY17" fmla="*/ 1286985 h 1418078"/>
              <a:gd name="connsiteX18" fmla="*/ 1416344 w 1557048"/>
              <a:gd name="connsiteY18" fmla="*/ 1286985 h 1418078"/>
              <a:gd name="connsiteX19" fmla="*/ 1416344 w 1557048"/>
              <a:gd name="connsiteY19" fmla="*/ 1418078 h 1418078"/>
              <a:gd name="connsiteX20" fmla="*/ 1292330 w 1557048"/>
              <a:gd name="connsiteY20" fmla="*/ 1411831 h 1418078"/>
              <a:gd name="connsiteX21" fmla="*/ 6201 w 1557048"/>
              <a:gd name="connsiteY21" fmla="*/ 122105 h 1418078"/>
            </a:gdLst>
            <a:rect l="l" t="t" r="r" b="b"/>
            <a:pathLst>
              <a:path w="1557048" h="1418078">
                <a:moveTo>
                  <a:pt x="0" y="0"/>
                </a:moveTo>
                <a:lnTo>
                  <a:pt x="75714" y="0"/>
                </a:lnTo>
                <a:lnTo>
                  <a:pt x="69795" y="29317"/>
                </a:lnTo>
                <a:cubicBezTo>
                  <a:pt x="69795" y="85615"/>
                  <a:pt x="115433" y="131253"/>
                  <a:pt x="171731" y="131253"/>
                </a:cubicBezTo>
                <a:cubicBezTo>
                  <a:pt x="228029" y="131253"/>
                  <a:pt x="273667" y="85615"/>
                  <a:pt x="273667" y="29317"/>
                </a:cubicBezTo>
                <a:lnTo>
                  <a:pt x="267748" y="0"/>
                </a:lnTo>
                <a:lnTo>
                  <a:pt x="361909" y="0"/>
                </a:lnTo>
                <a:lnTo>
                  <a:pt x="366286" y="86203"/>
                </a:lnTo>
                <a:cubicBezTo>
                  <a:pt x="416457" y="595433"/>
                  <a:pt x="820751" y="1000329"/>
                  <a:pt x="1329236" y="1051847"/>
                </a:cubicBezTo>
                <a:lnTo>
                  <a:pt x="1416344" y="1056236"/>
                </a:lnTo>
                <a:lnTo>
                  <a:pt x="1416344" y="1206021"/>
                </a:lnTo>
                <a:lnTo>
                  <a:pt x="1437833" y="1206021"/>
                </a:lnTo>
                <a:lnTo>
                  <a:pt x="1441453" y="1197281"/>
                </a:lnTo>
                <a:cubicBezTo>
                  <a:pt x="1453707" y="1185027"/>
                  <a:pt x="1470636" y="1177448"/>
                  <a:pt x="1489334" y="1177448"/>
                </a:cubicBezTo>
                <a:cubicBezTo>
                  <a:pt x="1526731" y="1177448"/>
                  <a:pt x="1557048" y="1207765"/>
                  <a:pt x="1557048" y="1245162"/>
                </a:cubicBezTo>
                <a:cubicBezTo>
                  <a:pt x="1557048" y="1282559"/>
                  <a:pt x="1526731" y="1312876"/>
                  <a:pt x="1489334" y="1312876"/>
                </a:cubicBezTo>
                <a:cubicBezTo>
                  <a:pt x="1470636" y="1312876"/>
                  <a:pt x="1453707" y="1305297"/>
                  <a:pt x="1441453" y="1293043"/>
                </a:cubicBezTo>
                <a:lnTo>
                  <a:pt x="1438944" y="1286985"/>
                </a:lnTo>
                <a:lnTo>
                  <a:pt x="1416344" y="1286985"/>
                </a:lnTo>
                <a:lnTo>
                  <a:pt x="1416344" y="1418078"/>
                </a:lnTo>
                <a:lnTo>
                  <a:pt x="1292330" y="1411831"/>
                </a:lnTo>
                <a:cubicBezTo>
                  <a:pt x="613190" y="1343023"/>
                  <a:pt x="73211" y="802238"/>
                  <a:pt x="6201" y="122105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bg1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 sz="100"/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6" name="Textplatzhalter 25">
            <a:extLst xmlns:a="http://schemas.openxmlformats.org/drawingml/2006/main">
              <a:ext uri="{FF2B5EF4-FFF2-40B4-BE49-F238E27FC236}">
                <a16:creationId xmlns:a16="http://schemas.microsoft.com/office/drawing/2014/main" id="{2A58593F-D483-44BE-B7DC-660FEDBEF7A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4580802" y="2651518"/>
            <a:ext cx="1069358" cy="1132252"/>
          </a:xfrm>
          <a:custGeom xmlns:a="http://schemas.openxmlformats.org/drawingml/2006/main">
            <a:gdLst>
              <a:gd name="connsiteX0" fmla="*/ 1245162 w 1418078"/>
              <a:gd name="connsiteY0" fmla="*/ 0 h 1557048"/>
              <a:gd name="connsiteX1" fmla="*/ 1312876 w 1418078"/>
              <a:gd name="connsiteY1" fmla="*/ 67714 h 1557048"/>
              <a:gd name="connsiteX2" fmla="*/ 1293043 w 1418078"/>
              <a:gd name="connsiteY2" fmla="*/ 115595 h 1557048"/>
              <a:gd name="connsiteX3" fmla="*/ 1286985 w 1418078"/>
              <a:gd name="connsiteY3" fmla="*/ 118104 h 1557048"/>
              <a:gd name="connsiteX4" fmla="*/ 1286985 w 1418078"/>
              <a:gd name="connsiteY4" fmla="*/ 140704 h 1557048"/>
              <a:gd name="connsiteX5" fmla="*/ 1418078 w 1418078"/>
              <a:gd name="connsiteY5" fmla="*/ 140704 h 1557048"/>
              <a:gd name="connsiteX6" fmla="*/ 1411831 w 1418078"/>
              <a:gd name="connsiteY6" fmla="*/ 264718 h 1557048"/>
              <a:gd name="connsiteX7" fmla="*/ 122105 w 1418078"/>
              <a:gd name="connsiteY7" fmla="*/ 1550847 h 1557048"/>
              <a:gd name="connsiteX8" fmla="*/ 0 w 1418078"/>
              <a:gd name="connsiteY8" fmla="*/ 1557048 h 1557048"/>
              <a:gd name="connsiteX9" fmla="*/ 0 w 1418078"/>
              <a:gd name="connsiteY9" fmla="*/ 1481334 h 1557048"/>
              <a:gd name="connsiteX10" fmla="*/ 29317 w 1418078"/>
              <a:gd name="connsiteY10" fmla="*/ 1487253 h 1557048"/>
              <a:gd name="connsiteX11" fmla="*/ 131253 w 1418078"/>
              <a:gd name="connsiteY11" fmla="*/ 1385317 h 1557048"/>
              <a:gd name="connsiteX12" fmla="*/ 29317 w 1418078"/>
              <a:gd name="connsiteY12" fmla="*/ 1283381 h 1557048"/>
              <a:gd name="connsiteX13" fmla="*/ 0 w 1418078"/>
              <a:gd name="connsiteY13" fmla="*/ 1289300 h 1557048"/>
              <a:gd name="connsiteX14" fmla="*/ 0 w 1418078"/>
              <a:gd name="connsiteY14" fmla="*/ 1195139 h 1557048"/>
              <a:gd name="connsiteX15" fmla="*/ 86203 w 1418078"/>
              <a:gd name="connsiteY15" fmla="*/ 1190762 h 1557048"/>
              <a:gd name="connsiteX16" fmla="*/ 1051847 w 1418078"/>
              <a:gd name="connsiteY16" fmla="*/ 227812 h 1557048"/>
              <a:gd name="connsiteX17" fmla="*/ 1056236 w 1418078"/>
              <a:gd name="connsiteY17" fmla="*/ 140704 h 1557048"/>
              <a:gd name="connsiteX18" fmla="*/ 1206021 w 1418078"/>
              <a:gd name="connsiteY18" fmla="*/ 140704 h 1557048"/>
              <a:gd name="connsiteX19" fmla="*/ 1206021 w 1418078"/>
              <a:gd name="connsiteY19" fmla="*/ 119215 h 1557048"/>
              <a:gd name="connsiteX20" fmla="*/ 1197281 w 1418078"/>
              <a:gd name="connsiteY20" fmla="*/ 115595 h 1557048"/>
              <a:gd name="connsiteX21" fmla="*/ 1177448 w 1418078"/>
              <a:gd name="connsiteY21" fmla="*/ 67714 h 1557048"/>
              <a:gd name="connsiteX22" fmla="*/ 1245162 w 1418078"/>
              <a:gd name="connsiteY22" fmla="*/ 0 h 1557048"/>
            </a:gdLst>
            <a:rect l="l" t="t" r="r" b="b"/>
            <a:pathLst>
              <a:path w="1418078" h="1557048">
                <a:moveTo>
                  <a:pt x="1245162" y="0"/>
                </a:moveTo>
                <a:cubicBezTo>
                  <a:pt x="1282559" y="0"/>
                  <a:pt x="1312876" y="30317"/>
                  <a:pt x="1312876" y="67714"/>
                </a:cubicBezTo>
                <a:cubicBezTo>
                  <a:pt x="1312876" y="86412"/>
                  <a:pt x="1305297" y="103341"/>
                  <a:pt x="1293043" y="115595"/>
                </a:cubicBezTo>
                <a:lnTo>
                  <a:pt x="1286985" y="118104"/>
                </a:lnTo>
                <a:lnTo>
                  <a:pt x="1286985" y="140704"/>
                </a:lnTo>
                <a:lnTo>
                  <a:pt x="1418078" y="140704"/>
                </a:lnTo>
                <a:lnTo>
                  <a:pt x="1411831" y="264718"/>
                </a:lnTo>
                <a:cubicBezTo>
                  <a:pt x="1343023" y="943858"/>
                  <a:pt x="802238" y="1483837"/>
                  <a:pt x="122105" y="1550847"/>
                </a:cubicBezTo>
                <a:lnTo>
                  <a:pt x="0" y="1557048"/>
                </a:lnTo>
                <a:lnTo>
                  <a:pt x="0" y="1481334"/>
                </a:lnTo>
                <a:lnTo>
                  <a:pt x="29317" y="1487253"/>
                </a:lnTo>
                <a:cubicBezTo>
                  <a:pt x="85615" y="1487253"/>
                  <a:pt x="131253" y="1441615"/>
                  <a:pt x="131253" y="1385317"/>
                </a:cubicBezTo>
                <a:cubicBezTo>
                  <a:pt x="131253" y="1329019"/>
                  <a:pt x="85615" y="1283381"/>
                  <a:pt x="29317" y="1283381"/>
                </a:cubicBezTo>
                <a:lnTo>
                  <a:pt x="0" y="1289300"/>
                </a:lnTo>
                <a:lnTo>
                  <a:pt x="0" y="1195139"/>
                </a:lnTo>
                <a:lnTo>
                  <a:pt x="86203" y="1190762"/>
                </a:lnTo>
                <a:cubicBezTo>
                  <a:pt x="595433" y="1140591"/>
                  <a:pt x="1000329" y="736297"/>
                  <a:pt x="1051847" y="227812"/>
                </a:cubicBezTo>
                <a:lnTo>
                  <a:pt x="1056236" y="140704"/>
                </a:lnTo>
                <a:lnTo>
                  <a:pt x="1206021" y="140704"/>
                </a:lnTo>
                <a:lnTo>
                  <a:pt x="1206021" y="119215"/>
                </a:lnTo>
                <a:lnTo>
                  <a:pt x="1197281" y="115595"/>
                </a:lnTo>
                <a:cubicBezTo>
                  <a:pt x="1185027" y="103341"/>
                  <a:pt x="1177448" y="86412"/>
                  <a:pt x="1177448" y="67714"/>
                </a:cubicBezTo>
                <a:cubicBezTo>
                  <a:pt x="1177448" y="30317"/>
                  <a:pt x="1207765" y="0"/>
                  <a:pt x="1245162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bg1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 sz="100"/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3" name="Textplatzhalter 22">
            <a:extLst xmlns:a="http://schemas.openxmlformats.org/drawingml/2006/main">
              <a:ext uri="{FF2B5EF4-FFF2-40B4-BE49-F238E27FC236}">
                <a16:creationId xmlns:a16="http://schemas.microsoft.com/office/drawing/2014/main" id="{741A20EB-07C2-4AC3-8A28-C8603FE851CE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4476573" y="1662939"/>
            <a:ext cx="1174153" cy="1031197"/>
          </a:xfrm>
          <a:custGeom xmlns:a="http://schemas.openxmlformats.org/drawingml/2006/main">
            <a:gdLst>
              <a:gd name="connsiteX0" fmla="*/ 140704 w 1557048"/>
              <a:gd name="connsiteY0" fmla="*/ 0 h 1418078"/>
              <a:gd name="connsiteX1" fmla="*/ 264718 w 1557048"/>
              <a:gd name="connsiteY1" fmla="*/ 6247 h 1418078"/>
              <a:gd name="connsiteX2" fmla="*/ 1550847 w 1557048"/>
              <a:gd name="connsiteY2" fmla="*/ 1295973 h 1418078"/>
              <a:gd name="connsiteX3" fmla="*/ 1557048 w 1557048"/>
              <a:gd name="connsiteY3" fmla="*/ 1418078 h 1418078"/>
              <a:gd name="connsiteX4" fmla="*/ 1481334 w 1557048"/>
              <a:gd name="connsiteY4" fmla="*/ 1418078 h 1418078"/>
              <a:gd name="connsiteX5" fmla="*/ 1487253 w 1557048"/>
              <a:gd name="connsiteY5" fmla="*/ 1388761 h 1418078"/>
              <a:gd name="connsiteX6" fmla="*/ 1385317 w 1557048"/>
              <a:gd name="connsiteY6" fmla="*/ 1286825 h 1418078"/>
              <a:gd name="connsiteX7" fmla="*/ 1283381 w 1557048"/>
              <a:gd name="connsiteY7" fmla="*/ 1388761 h 1418078"/>
              <a:gd name="connsiteX8" fmla="*/ 1289300 w 1557048"/>
              <a:gd name="connsiteY8" fmla="*/ 1418078 h 1418078"/>
              <a:gd name="connsiteX9" fmla="*/ 1195139 w 1557048"/>
              <a:gd name="connsiteY9" fmla="*/ 1418078 h 1418078"/>
              <a:gd name="connsiteX10" fmla="*/ 1190762 w 1557048"/>
              <a:gd name="connsiteY10" fmla="*/ 1331875 h 1418078"/>
              <a:gd name="connsiteX11" fmla="*/ 227812 w 1557048"/>
              <a:gd name="connsiteY11" fmla="*/ 366231 h 1418078"/>
              <a:gd name="connsiteX12" fmla="*/ 140704 w 1557048"/>
              <a:gd name="connsiteY12" fmla="*/ 361842 h 1418078"/>
              <a:gd name="connsiteX13" fmla="*/ 140704 w 1557048"/>
              <a:gd name="connsiteY13" fmla="*/ 212057 h 1418078"/>
              <a:gd name="connsiteX14" fmla="*/ 119215 w 1557048"/>
              <a:gd name="connsiteY14" fmla="*/ 212057 h 1418078"/>
              <a:gd name="connsiteX15" fmla="*/ 115595 w 1557048"/>
              <a:gd name="connsiteY15" fmla="*/ 220797 h 1418078"/>
              <a:gd name="connsiteX16" fmla="*/ 67714 w 1557048"/>
              <a:gd name="connsiteY16" fmla="*/ 240630 h 1418078"/>
              <a:gd name="connsiteX17" fmla="*/ 0 w 1557048"/>
              <a:gd name="connsiteY17" fmla="*/ 172916 h 1418078"/>
              <a:gd name="connsiteX18" fmla="*/ 67714 w 1557048"/>
              <a:gd name="connsiteY18" fmla="*/ 105202 h 1418078"/>
              <a:gd name="connsiteX19" fmla="*/ 115595 w 1557048"/>
              <a:gd name="connsiteY19" fmla="*/ 125035 h 1418078"/>
              <a:gd name="connsiteX20" fmla="*/ 118104 w 1557048"/>
              <a:gd name="connsiteY20" fmla="*/ 131093 h 1418078"/>
              <a:gd name="connsiteX21" fmla="*/ 140704 w 1557048"/>
              <a:gd name="connsiteY21" fmla="*/ 131093 h 1418078"/>
            </a:gdLst>
            <a:rect l="l" t="t" r="r" b="b"/>
            <a:pathLst>
              <a:path w="1557048" h="1418078">
                <a:moveTo>
                  <a:pt x="140704" y="0"/>
                </a:moveTo>
                <a:lnTo>
                  <a:pt x="264718" y="6247"/>
                </a:lnTo>
                <a:cubicBezTo>
                  <a:pt x="943858" y="75055"/>
                  <a:pt x="1483837" y="615840"/>
                  <a:pt x="1550847" y="1295973"/>
                </a:cubicBezTo>
                <a:lnTo>
                  <a:pt x="1557048" y="1418078"/>
                </a:lnTo>
                <a:lnTo>
                  <a:pt x="1481334" y="1418078"/>
                </a:lnTo>
                <a:lnTo>
                  <a:pt x="1487253" y="1388761"/>
                </a:lnTo>
                <a:cubicBezTo>
                  <a:pt x="1487253" y="1332463"/>
                  <a:pt x="1441615" y="1286825"/>
                  <a:pt x="1385317" y="1286825"/>
                </a:cubicBezTo>
                <a:cubicBezTo>
                  <a:pt x="1329019" y="1286825"/>
                  <a:pt x="1283381" y="1332463"/>
                  <a:pt x="1283381" y="1388761"/>
                </a:cubicBezTo>
                <a:lnTo>
                  <a:pt x="1289300" y="1418078"/>
                </a:lnTo>
                <a:lnTo>
                  <a:pt x="1195139" y="1418078"/>
                </a:lnTo>
                <a:lnTo>
                  <a:pt x="1190762" y="1331875"/>
                </a:lnTo>
                <a:cubicBezTo>
                  <a:pt x="1140591" y="822645"/>
                  <a:pt x="736297" y="417749"/>
                  <a:pt x="227812" y="366231"/>
                </a:cubicBezTo>
                <a:lnTo>
                  <a:pt x="140704" y="361842"/>
                </a:lnTo>
                <a:lnTo>
                  <a:pt x="140704" y="212057"/>
                </a:lnTo>
                <a:lnTo>
                  <a:pt x="119215" y="212057"/>
                </a:lnTo>
                <a:lnTo>
                  <a:pt x="115595" y="220797"/>
                </a:lnTo>
                <a:cubicBezTo>
                  <a:pt x="103341" y="233051"/>
                  <a:pt x="86412" y="240630"/>
                  <a:pt x="67714" y="240630"/>
                </a:cubicBezTo>
                <a:cubicBezTo>
                  <a:pt x="30317" y="240630"/>
                  <a:pt x="0" y="210313"/>
                  <a:pt x="0" y="172916"/>
                </a:cubicBezTo>
                <a:cubicBezTo>
                  <a:pt x="0" y="135519"/>
                  <a:pt x="30317" y="105202"/>
                  <a:pt x="67714" y="105202"/>
                </a:cubicBezTo>
                <a:cubicBezTo>
                  <a:pt x="86412" y="105202"/>
                  <a:pt x="103341" y="112781"/>
                  <a:pt x="115595" y="125035"/>
                </a:cubicBezTo>
                <a:lnTo>
                  <a:pt x="118104" y="131093"/>
                </a:lnTo>
                <a:lnTo>
                  <a:pt x="140704" y="131093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bg1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00"/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108" name="Textplatzhalter 107">
            <a:extLst xmlns:a="http://schemas.openxmlformats.org/drawingml/2006/main">
              <a:ext uri="{FF2B5EF4-FFF2-40B4-BE49-F238E27FC236}">
                <a16:creationId xmlns:a16="http://schemas.microsoft.com/office/drawing/2014/main" id="{71E17589-9B02-49FC-BC8E-6CC1AF132A0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25040" y="879475"/>
            <a:ext cx="4097731" cy="1638089"/>
          </a:xfrm>
          <a:custGeom xmlns:a="http://schemas.openxmlformats.org/drawingml/2006/main">
            <a:gdLst>
              <a:gd name="connsiteX0" fmla="*/ 0 w 5434013"/>
              <a:gd name="connsiteY0" fmla="*/ 0 h 2243183"/>
              <a:gd name="connsiteX1" fmla="*/ 5434013 w 5434013"/>
              <a:gd name="connsiteY1" fmla="*/ 0 h 2243183"/>
              <a:gd name="connsiteX2" fmla="*/ 5434013 w 5434013"/>
              <a:gd name="connsiteY2" fmla="*/ 977788 h 2243183"/>
              <a:gd name="connsiteX3" fmla="*/ 5348252 w 5434013"/>
              <a:gd name="connsiteY3" fmla="*/ 990877 h 2243183"/>
              <a:gd name="connsiteX4" fmla="*/ 4171247 w 5434013"/>
              <a:gd name="connsiteY4" fmla="*/ 2167882 h 2243183"/>
              <a:gd name="connsiteX5" fmla="*/ 4159755 w 5434013"/>
              <a:gd name="connsiteY5" fmla="*/ 2243183 h 2243183"/>
              <a:gd name="connsiteX6" fmla="*/ 0 w 5434013"/>
              <a:gd name="connsiteY6" fmla="*/ 2243183 h 2243183"/>
            </a:gdLst>
            <a:rect l="l" t="t" r="r" b="b"/>
            <a:pathLst>
              <a:path w="5434013" h="2243183">
                <a:moveTo>
                  <a:pt x="0" y="0"/>
                </a:moveTo>
                <a:lnTo>
                  <a:pt x="5434013" y="0"/>
                </a:lnTo>
                <a:lnTo>
                  <a:pt x="5434013" y="977788"/>
                </a:lnTo>
                <a:lnTo>
                  <a:pt x="5348252" y="990877"/>
                </a:lnTo>
                <a:cubicBezTo>
                  <a:pt x="4757464" y="1111770"/>
                  <a:pt x="4292140" y="1577094"/>
                  <a:pt x="4171247" y="2167882"/>
                </a:cubicBezTo>
                <a:lnTo>
                  <a:pt x="4159755" y="2243183"/>
                </a:lnTo>
                <a:lnTo>
                  <a:pt x="0" y="22431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72000" tIns="72000" rIns="720000" bIns="72000" anchor="t">
            <a:noAutofit/>
          </a:bodyPr>
          <a:lstStyle xmlns:a="http://schemas.openxmlformats.org/drawingml/2006/main">
            <a:lvl1pPr mar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141416" indent="0" algn="l">
              <a:lnSpc>
                <a:spcPct val="100000"/>
              </a:lnSpc>
              <a:spcBef>
                <a:spcPts val="0"/>
              </a:spcBef>
              <a:buFont typeface="Wingdings"/>
              <a:buNone/>
              <a:defRPr sz="900">
                <a:solidFill>
                  <a:schemeClr val="tx1"/>
                </a:solidFill>
              </a:defRPr>
            </a:lvl2pPr>
            <a:lvl3pPr marL="325701" indent="0" algn="l">
              <a:lnSpc>
                <a:spcPct val="100000"/>
              </a:lnSpc>
              <a:spcBef>
                <a:spcPts val="0"/>
              </a:spcBef>
              <a:buFont typeface="Wingdings"/>
              <a:buNone/>
              <a:defRPr sz="900">
                <a:solidFill>
                  <a:schemeClr val="tx1"/>
                </a:solidFill>
              </a:defRPr>
            </a:lvl3pPr>
            <a:lvl4pPr>
              <a:buNone/>
              <a:defRPr sz="1350">
                <a:solidFill>
                  <a:schemeClr val="lt1"/>
                </a:solidFill>
              </a:defRPr>
            </a:lvl4pPr>
            <a:lvl5pPr>
              <a:buNone/>
              <a:defRPr sz="1350">
                <a:solidFill>
                  <a:schemeClr val="lt1"/>
                </a:solidFill>
              </a:defRPr>
            </a:lvl5pPr>
          </a:lstStyle>
          <a:p xmlns:a="http://schemas.openxmlformats.org/drawingml/2006/main">
            <a:pPr marL="128588" lvl="0" indent="-128588" defTabSz="685800">
              <a:spcAft>
                <a:spcPts val="450"/>
              </a:spcAft>
              <a:buNone/>
            </a:pPr>
            <a:r>
              <a:t>Text Punkt 1</a:t>
            </a:r>
          </a:p>
        </p:txBody>
      </p:sp>
      <p:sp>
        <p:nvSpPr>
          <p:cNvPr id="111" name="Textplatzhalter 110">
            <a:extLst xmlns:a="http://schemas.openxmlformats.org/drawingml/2006/main">
              <a:ext uri="{FF2B5EF4-FFF2-40B4-BE49-F238E27FC236}">
                <a16:creationId xmlns:a16="http://schemas.microsoft.com/office/drawing/2014/main" id="{39FDA5CF-2C67-4EBE-8AA7-1837C7AAB0D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729161" y="879475"/>
            <a:ext cx="4098927" cy="1638089"/>
          </a:xfrm>
          <a:custGeom xmlns:a="http://schemas.openxmlformats.org/drawingml/2006/main">
            <a:gdLst>
              <a:gd name="connsiteX0" fmla="*/ 0 w 5435600"/>
              <a:gd name="connsiteY0" fmla="*/ 0 h 2243183"/>
              <a:gd name="connsiteX1" fmla="*/ 5435600 w 5435600"/>
              <a:gd name="connsiteY1" fmla="*/ 0 h 2243183"/>
              <a:gd name="connsiteX2" fmla="*/ 5435600 w 5435600"/>
              <a:gd name="connsiteY2" fmla="*/ 2243183 h 2243183"/>
              <a:gd name="connsiteX3" fmla="*/ 1274258 w 5435600"/>
              <a:gd name="connsiteY3" fmla="*/ 2243183 h 2243183"/>
              <a:gd name="connsiteX4" fmla="*/ 1262765 w 5435600"/>
              <a:gd name="connsiteY4" fmla="*/ 2167882 h 2243183"/>
              <a:gd name="connsiteX5" fmla="*/ 85761 w 5435600"/>
              <a:gd name="connsiteY5" fmla="*/ 990877 h 2243183"/>
              <a:gd name="connsiteX6" fmla="*/ 0 w 5435600"/>
              <a:gd name="connsiteY6" fmla="*/ 977789 h 2243183"/>
            </a:gdLst>
            <a:rect l="l" t="t" r="r" b="b"/>
            <a:pathLst>
              <a:path w="5435600" h="2243183">
                <a:moveTo>
                  <a:pt x="0" y="0"/>
                </a:moveTo>
                <a:lnTo>
                  <a:pt x="5435600" y="0"/>
                </a:lnTo>
                <a:lnTo>
                  <a:pt x="5435600" y="2243183"/>
                </a:lnTo>
                <a:lnTo>
                  <a:pt x="1274258" y="2243183"/>
                </a:lnTo>
                <a:lnTo>
                  <a:pt x="1262765" y="2167882"/>
                </a:lnTo>
                <a:cubicBezTo>
                  <a:pt x="1141873" y="1577094"/>
                  <a:pt x="676549" y="1111770"/>
                  <a:pt x="85761" y="990877"/>
                </a:cubicBezTo>
                <a:lnTo>
                  <a:pt x="0" y="9777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720000" tIns="72000" rIns="72000" bIns="72000" anchor="t">
            <a:noAutofit/>
          </a:bodyPr>
          <a:lstStyle xmlns:a="http://schemas.openxmlformats.org/drawingml/2006/main">
            <a:lvl1pPr marL="0" indent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141416" indent="0" algn="r">
              <a:lnSpc>
                <a:spcPct val="100000"/>
              </a:lnSpc>
              <a:spcBef>
                <a:spcPts val="0"/>
              </a:spcBef>
              <a:buFont typeface="Wingdings"/>
              <a:buNone/>
              <a:defRPr sz="900">
                <a:solidFill>
                  <a:schemeClr val="tx1"/>
                </a:solidFill>
              </a:defRPr>
            </a:lvl2pPr>
            <a:lvl3pPr marL="325701" indent="0" algn="r">
              <a:lnSpc>
                <a:spcPct val="100000"/>
              </a:lnSpc>
              <a:spcBef>
                <a:spcPts val="0"/>
              </a:spcBef>
              <a:buFont typeface="Wingdings"/>
              <a:buNone/>
              <a:defRPr sz="900">
                <a:solidFill>
                  <a:schemeClr val="tx1"/>
                </a:solidFill>
              </a:defRPr>
            </a:lvl3pPr>
            <a:lvl4pPr>
              <a:buNone/>
              <a:defRPr sz="1350">
                <a:solidFill>
                  <a:schemeClr val="lt1"/>
                </a:solidFill>
              </a:defRPr>
            </a:lvl4pPr>
            <a:lvl5pPr>
              <a:buNone/>
              <a:defRPr sz="1350">
                <a:solidFill>
                  <a:schemeClr val="lt1"/>
                </a:solidFill>
              </a:defRPr>
            </a:lvl5pPr>
          </a:lstStyle>
          <a:p xmlns:a="http://schemas.openxmlformats.org/drawingml/2006/main">
            <a:pPr marL="128588" lvl="0" indent="-128588" defTabSz="685800">
              <a:spcAft>
                <a:spcPts val="450"/>
              </a:spcAft>
              <a:buNone/>
            </a:pPr>
            <a:r>
              <a:t>Text Punkt 1</a:t>
            </a:r>
          </a:p>
        </p:txBody>
      </p:sp>
      <p:sp>
        <p:nvSpPr>
          <p:cNvPr id="114" name="Textplatzhalter 113">
            <a:extLst xmlns:a="http://schemas.openxmlformats.org/drawingml/2006/main">
              <a:ext uri="{FF2B5EF4-FFF2-40B4-BE49-F238E27FC236}">
                <a16:creationId xmlns:a16="http://schemas.microsoft.com/office/drawing/2014/main" id="{E1C93342-1327-40F5-A49B-EA7772394C78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323850" y="2913271"/>
            <a:ext cx="4097730" cy="1631195"/>
          </a:xfrm>
          <a:custGeom xmlns:a="http://schemas.openxmlformats.org/drawingml/2006/main">
            <a:gdLst>
              <a:gd name="connsiteX0" fmla="*/ 0 w 5434012"/>
              <a:gd name="connsiteY0" fmla="*/ 0 h 2243183"/>
              <a:gd name="connsiteX1" fmla="*/ 4161343 w 5434012"/>
              <a:gd name="connsiteY1" fmla="*/ 0 h 2243183"/>
              <a:gd name="connsiteX2" fmla="*/ 4172835 w 5434012"/>
              <a:gd name="connsiteY2" fmla="*/ 75303 h 2243183"/>
              <a:gd name="connsiteX3" fmla="*/ 5349840 w 5434012"/>
              <a:gd name="connsiteY3" fmla="*/ 1252307 h 2243183"/>
              <a:gd name="connsiteX4" fmla="*/ 5434012 w 5434012"/>
              <a:gd name="connsiteY4" fmla="*/ 1265153 h 2243183"/>
              <a:gd name="connsiteX5" fmla="*/ 5434012 w 5434012"/>
              <a:gd name="connsiteY5" fmla="*/ 2243183 h 2243183"/>
              <a:gd name="connsiteX6" fmla="*/ 0 w 5434012"/>
              <a:gd name="connsiteY6" fmla="*/ 2243183 h 2243183"/>
            </a:gdLst>
            <a:rect l="l" t="t" r="r" b="b"/>
            <a:pathLst>
              <a:path w="5434012" h="2243183">
                <a:moveTo>
                  <a:pt x="0" y="0"/>
                </a:moveTo>
                <a:lnTo>
                  <a:pt x="4161343" y="0"/>
                </a:lnTo>
                <a:lnTo>
                  <a:pt x="4172835" y="75303"/>
                </a:lnTo>
                <a:cubicBezTo>
                  <a:pt x="4293728" y="666091"/>
                  <a:pt x="4759052" y="1131414"/>
                  <a:pt x="5349840" y="1252307"/>
                </a:cubicBezTo>
                <a:lnTo>
                  <a:pt x="5434012" y="1265153"/>
                </a:lnTo>
                <a:lnTo>
                  <a:pt x="5434012" y="2243183"/>
                </a:lnTo>
                <a:lnTo>
                  <a:pt x="0" y="22431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72000" tIns="72000" rIns="720000" bIns="72000" anchor="t">
            <a:noAutofit/>
          </a:bodyPr>
          <a:lstStyle xmlns:a="http://schemas.openxmlformats.org/drawingml/2006/main">
            <a:lvl1pPr marL="0" inden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141416" indent="0">
              <a:lnSpc>
                <a:spcPct val="100000"/>
              </a:lnSpc>
              <a:spcBef>
                <a:spcPts val="0"/>
              </a:spcBef>
              <a:buFont typeface="Wingdings"/>
              <a:buNone/>
              <a:defRPr sz="900">
                <a:solidFill>
                  <a:schemeClr val="tx1"/>
                </a:solidFill>
              </a:defRPr>
            </a:lvl2pPr>
            <a:lvl3pPr marL="325701" indent="0">
              <a:lnSpc>
                <a:spcPct val="100000"/>
              </a:lnSpc>
              <a:spcBef>
                <a:spcPts val="0"/>
              </a:spcBef>
              <a:buFont typeface="Wingdings"/>
              <a:buNone/>
              <a:defRPr sz="900">
                <a:solidFill>
                  <a:schemeClr val="tx1"/>
                </a:solidFill>
              </a:defRPr>
            </a:lvl3pPr>
            <a:lvl4pPr>
              <a:buNone/>
              <a:defRPr sz="1350">
                <a:solidFill>
                  <a:schemeClr val="lt1"/>
                </a:solidFill>
              </a:defRPr>
            </a:lvl4pPr>
            <a:lvl5pPr>
              <a:buNone/>
              <a:defRPr sz="1350">
                <a:solidFill>
                  <a:schemeClr val="lt1"/>
                </a:solidFill>
              </a:defRPr>
            </a:lvl5pPr>
          </a:lstStyle>
          <a:p xmlns:a="http://schemas.openxmlformats.org/drawingml/2006/main">
            <a:pPr marL="128588" lvl="0" indent="-128588" defTabSz="685800">
              <a:spcAft>
                <a:spcPts val="450"/>
              </a:spcAft>
              <a:buNone/>
            </a:pPr>
            <a:r>
              <a:t>Text Punkt 1</a:t>
            </a:r>
          </a:p>
        </p:txBody>
      </p:sp>
      <p:sp>
        <p:nvSpPr>
          <p:cNvPr id="112" name="Textplatzhalter 111">
            <a:extLst xmlns:a="http://schemas.openxmlformats.org/drawingml/2006/main">
              <a:ext uri="{FF2B5EF4-FFF2-40B4-BE49-F238E27FC236}">
                <a16:creationId xmlns:a16="http://schemas.microsoft.com/office/drawing/2014/main" id="{75290A4E-EF99-4DD8-9891-A87460A329CC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729162" y="2913271"/>
            <a:ext cx="4097730" cy="1631195"/>
          </a:xfrm>
          <a:custGeom xmlns:a="http://schemas.openxmlformats.org/drawingml/2006/main">
            <a:gdLst>
              <a:gd name="connsiteX0" fmla="*/ 1274258 w 5434012"/>
              <a:gd name="connsiteY0" fmla="*/ 0 h 2243183"/>
              <a:gd name="connsiteX1" fmla="*/ 5434012 w 5434012"/>
              <a:gd name="connsiteY1" fmla="*/ 0 h 2243183"/>
              <a:gd name="connsiteX2" fmla="*/ 5434012 w 5434012"/>
              <a:gd name="connsiteY2" fmla="*/ 2243183 h 2243183"/>
              <a:gd name="connsiteX3" fmla="*/ 0 w 5434012"/>
              <a:gd name="connsiteY3" fmla="*/ 2243183 h 2243183"/>
              <a:gd name="connsiteX4" fmla="*/ 0 w 5434012"/>
              <a:gd name="connsiteY4" fmla="*/ 1265396 h 2243183"/>
              <a:gd name="connsiteX5" fmla="*/ 85761 w 5434012"/>
              <a:gd name="connsiteY5" fmla="*/ 1252307 h 2243183"/>
              <a:gd name="connsiteX6" fmla="*/ 1262765 w 5434012"/>
              <a:gd name="connsiteY6" fmla="*/ 75303 h 2243183"/>
            </a:gdLst>
            <a:rect l="l" t="t" r="r" b="b"/>
            <a:pathLst>
              <a:path w="5434012" h="2243183">
                <a:moveTo>
                  <a:pt x="1274258" y="0"/>
                </a:moveTo>
                <a:lnTo>
                  <a:pt x="5434012" y="0"/>
                </a:lnTo>
                <a:lnTo>
                  <a:pt x="5434012" y="2243183"/>
                </a:lnTo>
                <a:lnTo>
                  <a:pt x="0" y="2243183"/>
                </a:lnTo>
                <a:lnTo>
                  <a:pt x="0" y="1265396"/>
                </a:lnTo>
                <a:lnTo>
                  <a:pt x="85761" y="1252307"/>
                </a:lnTo>
                <a:cubicBezTo>
                  <a:pt x="676549" y="1131414"/>
                  <a:pt x="1141873" y="666091"/>
                  <a:pt x="1262765" y="753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720000" tIns="72000" rIns="72000" bIns="72000" anchor="t">
            <a:noAutofit/>
          </a:bodyPr>
          <a:lstStyle xmlns:a="http://schemas.openxmlformats.org/drawingml/2006/main">
            <a:lvl1pPr marL="0" indent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141416" indent="0" algn="r">
              <a:lnSpc>
                <a:spcPct val="100000"/>
              </a:lnSpc>
              <a:spcBef>
                <a:spcPts val="0"/>
              </a:spcBef>
              <a:buFont typeface="Wingdings"/>
              <a:buNone/>
              <a:defRPr sz="900">
                <a:solidFill>
                  <a:schemeClr val="tx1"/>
                </a:solidFill>
              </a:defRPr>
            </a:lvl2pPr>
            <a:lvl3pPr marL="325701" indent="0" algn="r">
              <a:lnSpc>
                <a:spcPct val="100000"/>
              </a:lnSpc>
              <a:spcBef>
                <a:spcPts val="0"/>
              </a:spcBef>
              <a:buFont typeface="Wingdings"/>
              <a:buNone/>
              <a:defRPr sz="900">
                <a:solidFill>
                  <a:schemeClr val="tx1"/>
                </a:solidFill>
              </a:defRPr>
            </a:lvl3pPr>
            <a:lvl4pPr>
              <a:buNone/>
              <a:defRPr sz="1350">
                <a:solidFill>
                  <a:schemeClr val="lt1"/>
                </a:solidFill>
              </a:defRPr>
            </a:lvl4pPr>
            <a:lvl5pPr>
              <a:buNone/>
              <a:defRPr sz="1350">
                <a:solidFill>
                  <a:schemeClr val="lt1"/>
                </a:solidFill>
              </a:defRPr>
            </a:lvl5pPr>
          </a:lstStyle>
          <a:p xmlns:a="http://schemas.openxmlformats.org/drawingml/2006/main">
            <a:pPr marL="128588" lvl="0" indent="-128588" defTabSz="685800">
              <a:spcAft>
                <a:spcPts val="450"/>
              </a:spcAft>
              <a:buNone/>
            </a:pPr>
            <a:r>
              <a:t>Text Punkt 1</a:t>
            </a:r>
          </a:p>
        </p:txBody>
      </p:sp>
      <p:sp>
        <p:nvSpPr>
          <p:cNvPr id="19" name="Textplatzhalter 18">
            <a:extLst xmlns:a="http://schemas.openxmlformats.org/drawingml/2006/main">
              <a:ext uri="{FF2B5EF4-FFF2-40B4-BE49-F238E27FC236}">
                <a16:creationId xmlns:a16="http://schemas.microsoft.com/office/drawing/2014/main" id="{31348847-F72E-4FBE-8A5F-5434B27EAB0A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485747" y="1663537"/>
            <a:ext cx="1069358" cy="1132252"/>
          </a:xfrm>
          <a:custGeom xmlns:a="http://schemas.openxmlformats.org/drawingml/2006/main">
            <a:gdLst>
              <a:gd name="connsiteX0" fmla="*/ 1418078 w 1418078"/>
              <a:gd name="connsiteY0" fmla="*/ 0 h 1557048"/>
              <a:gd name="connsiteX1" fmla="*/ 1418078 w 1418078"/>
              <a:gd name="connsiteY1" fmla="*/ 75714 h 1557048"/>
              <a:gd name="connsiteX2" fmla="*/ 1388761 w 1418078"/>
              <a:gd name="connsiteY2" fmla="*/ 69795 h 1557048"/>
              <a:gd name="connsiteX3" fmla="*/ 1286825 w 1418078"/>
              <a:gd name="connsiteY3" fmla="*/ 171731 h 1557048"/>
              <a:gd name="connsiteX4" fmla="*/ 1388761 w 1418078"/>
              <a:gd name="connsiteY4" fmla="*/ 273667 h 1557048"/>
              <a:gd name="connsiteX5" fmla="*/ 1418078 w 1418078"/>
              <a:gd name="connsiteY5" fmla="*/ 267748 h 1557048"/>
              <a:gd name="connsiteX6" fmla="*/ 1418078 w 1418078"/>
              <a:gd name="connsiteY6" fmla="*/ 361909 h 1557048"/>
              <a:gd name="connsiteX7" fmla="*/ 1331875 w 1418078"/>
              <a:gd name="connsiteY7" fmla="*/ 366286 h 1557048"/>
              <a:gd name="connsiteX8" fmla="*/ 366231 w 1418078"/>
              <a:gd name="connsiteY8" fmla="*/ 1329236 h 1557048"/>
              <a:gd name="connsiteX9" fmla="*/ 361842 w 1418078"/>
              <a:gd name="connsiteY9" fmla="*/ 1416344 h 1557048"/>
              <a:gd name="connsiteX10" fmla="*/ 212057 w 1418078"/>
              <a:gd name="connsiteY10" fmla="*/ 1416344 h 1557048"/>
              <a:gd name="connsiteX11" fmla="*/ 212057 w 1418078"/>
              <a:gd name="connsiteY11" fmla="*/ 1437833 h 1557048"/>
              <a:gd name="connsiteX12" fmla="*/ 220797 w 1418078"/>
              <a:gd name="connsiteY12" fmla="*/ 1441453 h 1557048"/>
              <a:gd name="connsiteX13" fmla="*/ 240630 w 1418078"/>
              <a:gd name="connsiteY13" fmla="*/ 1489334 h 1557048"/>
              <a:gd name="connsiteX14" fmla="*/ 172916 w 1418078"/>
              <a:gd name="connsiteY14" fmla="*/ 1557048 h 1557048"/>
              <a:gd name="connsiteX15" fmla="*/ 105202 w 1418078"/>
              <a:gd name="connsiteY15" fmla="*/ 1489334 h 1557048"/>
              <a:gd name="connsiteX16" fmla="*/ 125035 w 1418078"/>
              <a:gd name="connsiteY16" fmla="*/ 1441453 h 1557048"/>
              <a:gd name="connsiteX17" fmla="*/ 131093 w 1418078"/>
              <a:gd name="connsiteY17" fmla="*/ 1438944 h 1557048"/>
              <a:gd name="connsiteX18" fmla="*/ 131093 w 1418078"/>
              <a:gd name="connsiteY18" fmla="*/ 1416344 h 1557048"/>
              <a:gd name="connsiteX19" fmla="*/ 0 w 1418078"/>
              <a:gd name="connsiteY19" fmla="*/ 1416344 h 1557048"/>
              <a:gd name="connsiteX20" fmla="*/ 6247 w 1418078"/>
              <a:gd name="connsiteY20" fmla="*/ 1292330 h 1557048"/>
              <a:gd name="connsiteX21" fmla="*/ 1295973 w 1418078"/>
              <a:gd name="connsiteY21" fmla="*/ 6201 h 1557048"/>
            </a:gdLst>
            <a:rect l="l" t="t" r="r" b="b"/>
            <a:pathLst>
              <a:path w="1418078" h="1557048">
                <a:moveTo>
                  <a:pt x="1418078" y="0"/>
                </a:moveTo>
                <a:lnTo>
                  <a:pt x="1418078" y="75714"/>
                </a:lnTo>
                <a:lnTo>
                  <a:pt x="1388761" y="69795"/>
                </a:lnTo>
                <a:cubicBezTo>
                  <a:pt x="1332463" y="69795"/>
                  <a:pt x="1286825" y="115433"/>
                  <a:pt x="1286825" y="171731"/>
                </a:cubicBezTo>
                <a:cubicBezTo>
                  <a:pt x="1286825" y="228029"/>
                  <a:pt x="1332463" y="273667"/>
                  <a:pt x="1388761" y="273667"/>
                </a:cubicBezTo>
                <a:lnTo>
                  <a:pt x="1418078" y="267748"/>
                </a:lnTo>
                <a:lnTo>
                  <a:pt x="1418078" y="361909"/>
                </a:lnTo>
                <a:lnTo>
                  <a:pt x="1331875" y="366286"/>
                </a:lnTo>
                <a:cubicBezTo>
                  <a:pt x="822645" y="416457"/>
                  <a:pt x="417749" y="820751"/>
                  <a:pt x="366231" y="1329236"/>
                </a:cubicBezTo>
                <a:lnTo>
                  <a:pt x="361842" y="1416344"/>
                </a:lnTo>
                <a:lnTo>
                  <a:pt x="212057" y="1416344"/>
                </a:lnTo>
                <a:lnTo>
                  <a:pt x="212057" y="1437833"/>
                </a:lnTo>
                <a:lnTo>
                  <a:pt x="220797" y="1441453"/>
                </a:lnTo>
                <a:cubicBezTo>
                  <a:pt x="233051" y="1453707"/>
                  <a:pt x="240630" y="1470636"/>
                  <a:pt x="240630" y="1489334"/>
                </a:cubicBezTo>
                <a:cubicBezTo>
                  <a:pt x="240630" y="1526731"/>
                  <a:pt x="210313" y="1557048"/>
                  <a:pt x="172916" y="1557048"/>
                </a:cubicBezTo>
                <a:cubicBezTo>
                  <a:pt x="135519" y="1557048"/>
                  <a:pt x="105202" y="1526731"/>
                  <a:pt x="105202" y="1489334"/>
                </a:cubicBezTo>
                <a:cubicBezTo>
                  <a:pt x="105202" y="1470636"/>
                  <a:pt x="112781" y="1453707"/>
                  <a:pt x="125035" y="1441453"/>
                </a:cubicBezTo>
                <a:lnTo>
                  <a:pt x="131093" y="1438944"/>
                </a:lnTo>
                <a:lnTo>
                  <a:pt x="131093" y="1416344"/>
                </a:lnTo>
                <a:lnTo>
                  <a:pt x="0" y="1416344"/>
                </a:lnTo>
                <a:lnTo>
                  <a:pt x="6247" y="1292330"/>
                </a:lnTo>
                <a:cubicBezTo>
                  <a:pt x="75055" y="613190"/>
                  <a:pt x="615840" y="73211"/>
                  <a:pt x="1295973" y="620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bg1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 sz="100"/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13" name="Bildplatzhalter 12">
            <a:extLst xmlns:a="http://schemas.openxmlformats.org/drawingml/2006/main">
              <a:ext uri="{FF2B5EF4-FFF2-40B4-BE49-F238E27FC236}">
                <a16:creationId xmlns:a16="http://schemas.microsoft.com/office/drawing/2014/main" id="{FCC35BE9-5B95-440E-B9CE-CAA07AF2B556}"/>
              </a:ext>
            </a:extLst>
          </p:cNvPr>
          <p:cNvSpPr>
            <a:spLocks xmlns:a="http://schemas.openxmlformats.org/drawingml/2006/main" noGrp="1"/>
          </p:cNvSpPr>
          <p:nvPr>
            <p:ph type="pic" idx="29"/>
          </p:nvPr>
        </p:nvSpPr>
        <p:spPr>
          <a:xfrm xmlns:a="http://schemas.openxmlformats.org/drawingml/2006/main">
            <a:off x="3454256" y="945258"/>
            <a:ext cx="678680" cy="654461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6"/>
            </a:solidFill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/>
            </a:lvl1pPr>
          </a:lstStyle>
          <a:p xmlns:a="http://schemas.openxmlformats.org/drawingml/2006/main"/>
        </p:txBody>
      </p:sp>
      <p:sp>
        <p:nvSpPr>
          <p:cNvPr id="32" name="Bildplatzhalter 12">
            <a:extLst xmlns:a="http://schemas.openxmlformats.org/drawingml/2006/main">
              <a:ext uri="{FF2B5EF4-FFF2-40B4-BE49-F238E27FC236}">
                <a16:creationId xmlns:a16="http://schemas.microsoft.com/office/drawing/2014/main" id="{0A3FC016-64CF-4702-A694-864929E6399E}"/>
              </a:ext>
            </a:extLst>
          </p:cNvPr>
          <p:cNvSpPr>
            <a:spLocks xmlns:a="http://schemas.openxmlformats.org/drawingml/2006/main" noGrp="1"/>
          </p:cNvSpPr>
          <p:nvPr>
            <p:ph type="pic" idx="30"/>
          </p:nvPr>
        </p:nvSpPr>
        <p:spPr>
          <a:xfrm xmlns:a="http://schemas.openxmlformats.org/drawingml/2006/main">
            <a:off x="3447281" y="3861984"/>
            <a:ext cx="678680" cy="654461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6"/>
            </a:solidFill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/>
            </a:lvl1pPr>
          </a:lstStyle>
          <a:p xmlns:a="http://schemas.openxmlformats.org/drawingml/2006/main"/>
        </p:txBody>
      </p:sp>
      <p:sp>
        <p:nvSpPr>
          <p:cNvPr id="33" name="Bildplatzhalter 12">
            <a:extLst xmlns:a="http://schemas.openxmlformats.org/drawingml/2006/main">
              <a:ext uri="{FF2B5EF4-FFF2-40B4-BE49-F238E27FC236}">
                <a16:creationId xmlns:a16="http://schemas.microsoft.com/office/drawing/2014/main" id="{50777BBA-3DBE-4B66-A2E8-342B18606BAD}"/>
              </a:ext>
            </a:extLst>
          </p:cNvPr>
          <p:cNvSpPr>
            <a:spLocks xmlns:a="http://schemas.openxmlformats.org/drawingml/2006/main" noGrp="1"/>
          </p:cNvSpPr>
          <p:nvPr>
            <p:ph type="pic" idx="31"/>
          </p:nvPr>
        </p:nvSpPr>
        <p:spPr>
          <a:xfrm xmlns:a="http://schemas.openxmlformats.org/drawingml/2006/main">
            <a:off x="5001356" y="3861984"/>
            <a:ext cx="678680" cy="654461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6"/>
            </a:solidFill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/>
            </a:lvl1pPr>
          </a:lstStyle>
          <a:p xmlns:a="http://schemas.openxmlformats.org/drawingml/2006/main"/>
        </p:txBody>
      </p:sp>
      <p:sp>
        <p:nvSpPr>
          <p:cNvPr id="34" name="Bildplatzhalter 12">
            <a:extLst xmlns:a="http://schemas.openxmlformats.org/drawingml/2006/main">
              <a:ext uri="{FF2B5EF4-FFF2-40B4-BE49-F238E27FC236}">
                <a16:creationId xmlns:a16="http://schemas.microsoft.com/office/drawing/2014/main" id="{21CCBC36-D022-4531-88B8-745301145247}"/>
              </a:ext>
            </a:extLst>
          </p:cNvPr>
          <p:cNvSpPr>
            <a:spLocks xmlns:a="http://schemas.openxmlformats.org/drawingml/2006/main" noGrp="1"/>
          </p:cNvSpPr>
          <p:nvPr>
            <p:ph type="pic" idx="32"/>
          </p:nvPr>
        </p:nvSpPr>
        <p:spPr>
          <a:xfrm xmlns:a="http://schemas.openxmlformats.org/drawingml/2006/main">
            <a:off x="5001356" y="945258"/>
            <a:ext cx="678680" cy="654461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6"/>
            </a:solidFill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/>
            </a:lvl1pPr>
          </a:lstStyle>
          <a:p xmlns:a="http://schemas.openxmlformats.org/drawingml/2006/main"/>
        </p:txBody>
      </p:sp>
      <p:sp useBgFill="1">
        <p:nvSpPr>
          <p:cNvPr id="6" name="Titel 1">
            <a:extLst xmlns:a="http://schemas.openxmlformats.org/drawingml/2006/main">
              <a:ext uri="{FF2B5EF4-FFF2-40B4-BE49-F238E27FC236}">
                <a16:creationId xmlns:a16="http://schemas.microsoft.com/office/drawing/2014/main" id="{AC000D83-4044-980C-FD0E-C15076D5DE6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87338" y="288000"/>
            <a:ext cx="7331824" cy="324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400" b="0"/>
            </a:lvl1pPr>
          </a:lstStyle>
          <a:p xmlns:a="http://schemas.openxmlformats.org/drawingml/2006/main">
            <a:pPr lvl="0">
              <a:buNone/>
            </a:pPr>
            <a:r>
              <a:t>Titel durch Klicken bearbeiten</a:t>
            </a:r>
          </a:p>
        </p:txBody>
      </p:sp>
      <p:sp useBgFill="1">
        <p:nvSpPr>
          <p:cNvPr id="7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588EED5A-C313-129F-2745-A6C2679BAF86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6774933" y="4854985"/>
            <a:ext cx="2081729" cy="2738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fld id="{CE58CB1E-F828-4F11-99E0-327109AF9DA4}" type="slidenum">
              <a:rPr>
                <a:solidFill>
                  <a:prstClr val="black"/>
                </a:solidFill>
              </a:rPr>
              <a:t>‹Nr.›</a:t>
            </a:fld>
          </a:p>
        </p:txBody>
      </p:sp>
      <p:sp useBgFill="1">
        <p:nvSpPr>
          <p:cNvPr id="8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0787211C-D262-442B-AA94-53891FDFB6CD}"/>
              </a:ext>
            </a:extLst>
          </p:cNvPr>
          <p:cNvSpPr>
            <a:spLocks xmlns:a="http://schemas.openxmlformats.org/drawingml/2006/main" noGrp="1"/>
          </p:cNvSpPr>
          <p:nvPr>
            <p:ph type="ftr" idx="34"/>
          </p:nvPr>
        </p:nvSpPr>
        <p:spPr>
          <a:xfrm xmlns:a="http://schemas.openxmlformats.org/drawingml/2006/main">
            <a:off x="287338" y="4854985"/>
            <a:ext cx="6488104" cy="2738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prstClr val="black"/>
                </a:solidFill>
              </a:rPr>
              <a:t>TUM | Professorship for Big Geospatial Data Management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2_Fazit_3Punk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platzhalter 31">
            <a:extLst xmlns:a="http://schemas.openxmlformats.org/drawingml/2006/main">
              <a:ext uri="{FF2B5EF4-FFF2-40B4-BE49-F238E27FC236}">
                <a16:creationId xmlns:a16="http://schemas.microsoft.com/office/drawing/2014/main" id="{2E5812C2-4CCD-4E30-B58A-301D453D27CD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153101" y="3401607"/>
            <a:ext cx="6229103" cy="783429"/>
          </a:xfrm>
          <a:custGeom xmlns:a="http://schemas.openxmlformats.org/drawingml/2006/main">
            <a:gdLst>
              <a:gd name="connsiteX0" fmla="*/ 5169 w 8305470"/>
              <a:gd name="connsiteY0" fmla="*/ 0 h 1044572"/>
              <a:gd name="connsiteX1" fmla="*/ 8305470 w 8305470"/>
              <a:gd name="connsiteY1" fmla="*/ 0 h 1044572"/>
              <a:gd name="connsiteX2" fmla="*/ 8305470 w 8305470"/>
              <a:gd name="connsiteY2" fmla="*/ 1044572 h 1044572"/>
              <a:gd name="connsiteX3" fmla="*/ 0 w 8305470"/>
              <a:gd name="connsiteY3" fmla="*/ 1044572 h 1044572"/>
              <a:gd name="connsiteX4" fmla="*/ 34801 w 8305470"/>
              <a:gd name="connsiteY4" fmla="*/ 980457 h 1044572"/>
              <a:gd name="connsiteX5" fmla="*/ 128262 w 8305470"/>
              <a:gd name="connsiteY5" fmla="*/ 517524 h 1044572"/>
              <a:gd name="connsiteX6" fmla="*/ 34801 w 8305470"/>
              <a:gd name="connsiteY6" fmla="*/ 54591 h 1044572"/>
            </a:gdLst>
            <a:rect l="l" t="t" r="r" b="b"/>
            <a:pathLst>
              <a:path w="8305470" h="1044572">
                <a:moveTo>
                  <a:pt x="5169" y="0"/>
                </a:moveTo>
                <a:lnTo>
                  <a:pt x="8305470" y="0"/>
                </a:lnTo>
                <a:lnTo>
                  <a:pt x="8305470" y="1044572"/>
                </a:lnTo>
                <a:lnTo>
                  <a:pt x="0" y="1044572"/>
                </a:lnTo>
                <a:lnTo>
                  <a:pt x="34801" y="980457"/>
                </a:lnTo>
                <a:cubicBezTo>
                  <a:pt x="94983" y="838170"/>
                  <a:pt x="128262" y="681733"/>
                  <a:pt x="128262" y="517524"/>
                </a:cubicBezTo>
                <a:cubicBezTo>
                  <a:pt x="128262" y="353315"/>
                  <a:pt x="94983" y="196879"/>
                  <a:pt x="34801" y="545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360000" tIns="72000" rIns="72000" bIns="72000" anchor="ctr">
            <a:noAutofit/>
          </a:bodyPr>
          <a:lstStyle xmlns:a="http://schemas.openxmlformats.org/drawingml/2006/main">
            <a:lvl1pPr marL="171450" indent="-171450">
              <a:lnSpc>
                <a:spcPct val="114000"/>
              </a:lnSpc>
              <a:spcAft>
                <a:spcPts val="600"/>
              </a:spcAft>
              <a:buClrTx/>
              <a:buFont typeface="Arial"/>
              <a:buChar char="•"/>
              <a:defRPr sz="1200">
                <a:ln>
                  <a:noFill/>
                </a:ln>
                <a:solidFill>
                  <a:sysClr val="windowText" lastClr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5pPr>
          </a:lstStyle>
          <a:p xmlns:a="http://schemas.openxmlformats.org/drawingml/2006/main">
            <a:pPr marL="128588" lvl="0" indent="-128588" defTabSz="685800">
              <a:spcAft>
                <a:spcPts val="450"/>
              </a:spcAft>
              <a:buNone/>
            </a:pPr>
            <a:r>
              <a:t>Mastertextformat bearbeiten</a:t>
            </a:r>
          </a:p>
        </p:txBody>
      </p:sp>
      <p:sp>
        <p:nvSpPr>
          <p:cNvPr id="30" name="Textplatzhalter 29">
            <a:extLst xmlns:a="http://schemas.openxmlformats.org/drawingml/2006/main">
              <a:ext uri="{FF2B5EF4-FFF2-40B4-BE49-F238E27FC236}">
                <a16:creationId xmlns:a16="http://schemas.microsoft.com/office/drawing/2014/main" id="{8DAC838D-B288-4DD7-85BA-FFEA7039F53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154393" y="2503877"/>
            <a:ext cx="6227811" cy="783429"/>
          </a:xfrm>
          <a:custGeom xmlns:a="http://schemas.openxmlformats.org/drawingml/2006/main">
            <a:gdLst>
              <a:gd name="connsiteX0" fmla="*/ 1723 w 8303748"/>
              <a:gd name="connsiteY0" fmla="*/ 0 h 1044572"/>
              <a:gd name="connsiteX1" fmla="*/ 8303748 w 8303748"/>
              <a:gd name="connsiteY1" fmla="*/ 0 h 1044572"/>
              <a:gd name="connsiteX2" fmla="*/ 8303748 w 8303748"/>
              <a:gd name="connsiteY2" fmla="*/ 1044572 h 1044572"/>
              <a:gd name="connsiteX3" fmla="*/ 0 w 8303748"/>
              <a:gd name="connsiteY3" fmla="*/ 1044572 h 1044572"/>
              <a:gd name="connsiteX4" fmla="*/ 33077 w 8303748"/>
              <a:gd name="connsiteY4" fmla="*/ 983631 h 1044572"/>
              <a:gd name="connsiteX5" fmla="*/ 126539 w 8303748"/>
              <a:gd name="connsiteY5" fmla="*/ 520698 h 1044572"/>
              <a:gd name="connsiteX6" fmla="*/ 33077 w 8303748"/>
              <a:gd name="connsiteY6" fmla="*/ 57765 h 1044572"/>
            </a:gdLst>
            <a:rect l="l" t="t" r="r" b="b"/>
            <a:pathLst>
              <a:path w="8303748" h="1044572">
                <a:moveTo>
                  <a:pt x="1723" y="0"/>
                </a:moveTo>
                <a:lnTo>
                  <a:pt x="8303748" y="0"/>
                </a:lnTo>
                <a:lnTo>
                  <a:pt x="8303748" y="1044572"/>
                </a:lnTo>
                <a:lnTo>
                  <a:pt x="0" y="1044572"/>
                </a:lnTo>
                <a:lnTo>
                  <a:pt x="33077" y="983631"/>
                </a:lnTo>
                <a:cubicBezTo>
                  <a:pt x="93260" y="841344"/>
                  <a:pt x="126539" y="684907"/>
                  <a:pt x="126539" y="520698"/>
                </a:cubicBezTo>
                <a:cubicBezTo>
                  <a:pt x="126539" y="356489"/>
                  <a:pt x="93260" y="200052"/>
                  <a:pt x="33077" y="577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360000" tIns="72000" rIns="72000" bIns="72000" anchor="ctr">
            <a:noAutofit/>
          </a:bodyPr>
          <a:lstStyle xmlns:a="http://schemas.openxmlformats.org/drawingml/2006/main">
            <a:lvl1pPr marL="171450" indent="-171450">
              <a:lnSpc>
                <a:spcPct val="114000"/>
              </a:lnSpc>
              <a:spcAft>
                <a:spcPts val="600"/>
              </a:spcAft>
              <a:buClrTx/>
              <a:buFont typeface="Arial"/>
              <a:buChar char="•"/>
              <a:defRPr sz="1200">
                <a:ln>
                  <a:noFill/>
                </a:ln>
                <a:solidFill>
                  <a:sysClr val="windowText" lastClr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5pPr>
          </a:lstStyle>
          <a:p xmlns:a="http://schemas.openxmlformats.org/drawingml/2006/main">
            <a:pPr marL="128588" lvl="0" indent="-128588" defTabSz="685800">
              <a:spcAft>
                <a:spcPts val="450"/>
              </a:spcAft>
              <a:buNone/>
            </a:pPr>
            <a:r>
              <a:t>Mastertextformat bearbeiten</a:t>
            </a:r>
          </a:p>
        </p:txBody>
      </p:sp>
      <p:sp>
        <p:nvSpPr>
          <p:cNvPr id="31" name="Textplatzhalter 30">
            <a:extLst xmlns:a="http://schemas.openxmlformats.org/drawingml/2006/main">
              <a:ext uri="{FF2B5EF4-FFF2-40B4-BE49-F238E27FC236}">
                <a16:creationId xmlns:a16="http://schemas.microsoft.com/office/drawing/2014/main" id="{C40E419A-4A38-4EBE-A1BE-5B67BC32D1A7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153101" y="1603764"/>
            <a:ext cx="6229103" cy="783429"/>
          </a:xfrm>
          <a:custGeom xmlns:a="http://schemas.openxmlformats.org/drawingml/2006/main">
            <a:gdLst>
              <a:gd name="connsiteX0" fmla="*/ 0 w 8305471"/>
              <a:gd name="connsiteY0" fmla="*/ 0 h 1044572"/>
              <a:gd name="connsiteX1" fmla="*/ 8305471 w 8305471"/>
              <a:gd name="connsiteY1" fmla="*/ 0 h 1044572"/>
              <a:gd name="connsiteX2" fmla="*/ 8305471 w 8305471"/>
              <a:gd name="connsiteY2" fmla="*/ 1044572 h 1044572"/>
              <a:gd name="connsiteX3" fmla="*/ 5169 w 8305471"/>
              <a:gd name="connsiteY3" fmla="*/ 1044572 h 1044572"/>
              <a:gd name="connsiteX4" fmla="*/ 34800 w 8305471"/>
              <a:gd name="connsiteY4" fmla="*/ 989981 h 1044572"/>
              <a:gd name="connsiteX5" fmla="*/ 128262 w 8305471"/>
              <a:gd name="connsiteY5" fmla="*/ 527048 h 1044572"/>
              <a:gd name="connsiteX6" fmla="*/ 34800 w 8305471"/>
              <a:gd name="connsiteY6" fmla="*/ 64115 h 1044572"/>
            </a:gdLst>
            <a:rect l="l" t="t" r="r" b="b"/>
            <a:pathLst>
              <a:path w="8305471" h="1044572">
                <a:moveTo>
                  <a:pt x="0" y="0"/>
                </a:moveTo>
                <a:lnTo>
                  <a:pt x="8305471" y="0"/>
                </a:lnTo>
                <a:lnTo>
                  <a:pt x="8305471" y="1044572"/>
                </a:lnTo>
                <a:lnTo>
                  <a:pt x="5169" y="1044572"/>
                </a:lnTo>
                <a:lnTo>
                  <a:pt x="34800" y="989981"/>
                </a:lnTo>
                <a:cubicBezTo>
                  <a:pt x="94983" y="847694"/>
                  <a:pt x="128262" y="691257"/>
                  <a:pt x="128262" y="527048"/>
                </a:cubicBezTo>
                <a:cubicBezTo>
                  <a:pt x="128262" y="362839"/>
                  <a:pt x="94983" y="206402"/>
                  <a:pt x="34800" y="641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360000" tIns="72000" rIns="72000" bIns="72000" anchor="ctr">
            <a:noAutofit/>
          </a:bodyPr>
          <a:lstStyle xmlns:a="http://schemas.openxmlformats.org/drawingml/2006/main">
            <a:lvl1pPr marL="171450" indent="-171450">
              <a:lnSpc>
                <a:spcPct val="114000"/>
              </a:lnSpc>
              <a:spcAft>
                <a:spcPts val="600"/>
              </a:spcAft>
              <a:buClrTx/>
              <a:buFont typeface="Arial"/>
              <a:buChar char="•"/>
              <a:defRPr sz="1200">
                <a:ln>
                  <a:noFill/>
                </a:ln>
                <a:solidFill>
                  <a:sysClr val="windowText" lastClr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5pPr>
          </a:lstStyle>
          <a:p xmlns:a="http://schemas.openxmlformats.org/drawingml/2006/main">
            <a:pPr marL="128588" lvl="0" indent="-128588" defTabSz="685800">
              <a:spcAft>
                <a:spcPts val="450"/>
              </a:spcAft>
              <a:buNone/>
            </a:pPr>
            <a:r>
              <a:t>Mastertextformat bearbeiten</a:t>
            </a:r>
          </a:p>
        </p:txBody>
      </p:sp>
      <p:sp>
        <p:nvSpPr>
          <p:cNvPr id="3" name="Kreis: nicht ausgefüllt 2">
            <a:extLst xmlns:a="http://schemas.openxmlformats.org/drawingml/2006/main">
              <a:ext uri="{FF2B5EF4-FFF2-40B4-BE49-F238E27FC236}">
                <a16:creationId xmlns:a16="http://schemas.microsoft.com/office/drawing/2014/main" id="{66DD0C89-A44D-4F3B-ACBA-66B98422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12" y="1398975"/>
            <a:ext cx="1200150" cy="1200150"/>
          </a:xfrm>
          <a:prstGeom xmlns:a="http://schemas.openxmlformats.org/drawingml/2006/main" prst="donut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4" name="Kreis: nicht ausgefüllt 3">
            <a:extLst xmlns:a="http://schemas.openxmlformats.org/drawingml/2006/main">
              <a:ext uri="{FF2B5EF4-FFF2-40B4-BE49-F238E27FC236}">
                <a16:creationId xmlns:a16="http://schemas.microsoft.com/office/drawing/2014/main" id="{C549C3C1-BC1B-4401-A1CA-AF8DA1B9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12" y="2296706"/>
            <a:ext cx="1200150" cy="1200150"/>
          </a:xfrm>
          <a:prstGeom xmlns:a="http://schemas.openxmlformats.org/drawingml/2006/main" prst="donut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5" name="Kreis: nicht ausgefüllt 4">
            <a:extLst xmlns:a="http://schemas.openxmlformats.org/drawingml/2006/main">
              <a:ext uri="{FF2B5EF4-FFF2-40B4-BE49-F238E27FC236}">
                <a16:creationId xmlns:a16="http://schemas.microsoft.com/office/drawing/2014/main" id="{32900683-FA3F-4DA8-8530-78F5804E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12" y="3194438"/>
            <a:ext cx="1200150" cy="1200150"/>
          </a:xfrm>
          <a:prstGeom xmlns:a="http://schemas.openxmlformats.org/drawingml/2006/main" prst="donut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6" name="Halbbogen 5">
            <a:extLst xmlns:a="http://schemas.openxmlformats.org/drawingml/2006/main">
              <a:ext uri="{FF2B5EF4-FFF2-40B4-BE49-F238E27FC236}">
                <a16:creationId xmlns:a16="http://schemas.microsoft.com/office/drawing/2014/main" id="{B990D9FA-1758-49F3-80DC-36652EE4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0812" y="1398975"/>
            <a:ext cx="1200150" cy="1200150"/>
          </a:xfrm>
          <a:prstGeom xmlns:a="http://schemas.openxmlformats.org/drawingml/2006/main" prst="blockArc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7" name="Halbbogen 6">
            <a:extLst xmlns:a="http://schemas.openxmlformats.org/drawingml/2006/main">
              <a:ext uri="{FF2B5EF4-FFF2-40B4-BE49-F238E27FC236}">
                <a16:creationId xmlns:a16="http://schemas.microsoft.com/office/drawing/2014/main" id="{6427C8AA-FD0D-4148-95EE-8DF7A2B3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60811" y="2296706"/>
            <a:ext cx="1200150" cy="1200150"/>
          </a:xfrm>
          <a:prstGeom xmlns:a="http://schemas.openxmlformats.org/drawingml/2006/main" prst="blockArc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8" name="Halbbogen 7">
            <a:extLst xmlns:a="http://schemas.openxmlformats.org/drawingml/2006/main">
              <a:ext uri="{FF2B5EF4-FFF2-40B4-BE49-F238E27FC236}">
                <a16:creationId xmlns:a16="http://schemas.microsoft.com/office/drawing/2014/main" id="{71A5FD8D-64CB-45C4-9231-E3876305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0810" y="3194438"/>
            <a:ext cx="1200150" cy="1200150"/>
          </a:xfrm>
          <a:prstGeom xmlns:a="http://schemas.openxmlformats.org/drawingml/2006/main" prst="blockArc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11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8D91B921-9580-4038-9476-16EB8E19531E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1141228" y="1784738"/>
            <a:ext cx="437224" cy="4377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050" b="1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0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031B722C-745A-408E-A95C-E6D21399B782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1142275" y="2677912"/>
            <a:ext cx="437224" cy="4377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050" b="1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1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1BB2584C-DE68-4767-A938-4F739E6720C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1142274" y="3575643"/>
            <a:ext cx="437224" cy="4377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050" b="1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</a:p>
        </p:txBody>
      </p:sp>
      <p:sp useBgFill="1">
        <p:nvSpPr>
          <p:cNvPr id="2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8674C39-054F-3100-BB61-508E4D270CA3}"/>
              </a:ext>
            </a:extLst>
          </p:cNvPr>
          <p:cNvSpPr>
            <a:spLocks xmlns:a="http://schemas.openxmlformats.org/drawingml/2006/main" noGrp="1"/>
          </p:cNvSpPr>
          <p:nvPr>
            <p:ph type="sldNum" idx="31"/>
          </p:nvPr>
        </p:nvSpPr>
        <p:spPr>
          <a:xfrm xmlns:a="http://schemas.openxmlformats.org/drawingml/2006/main">
            <a:off x="6774933" y="4854985"/>
            <a:ext cx="2081729" cy="2738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fld id="{CE58CB1E-F828-4F11-99E0-327109AF9DA4}" type="slidenum">
              <a:rPr>
                <a:solidFill>
                  <a:prstClr val="black"/>
                </a:solidFill>
              </a:rPr>
              <a:t>‹Nr.›</a:t>
            </a:fld>
          </a:p>
        </p:txBody>
      </p:sp>
      <p:sp useBgFill="1">
        <p:nvSpPr>
          <p:cNvPr id="9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0B67997A-6D35-FC0B-294F-080957302E74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287338" y="4854985"/>
            <a:ext cx="6488104" cy="2738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prstClr val="black"/>
                </a:solidFill>
              </a:rPr>
              <a:t>TUM | Professorship for Big Geospatial Data Management</a:t>
            </a:r>
          </a:p>
        </p:txBody>
      </p:sp>
      <p:sp useBgFill="1"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1236C8D4-7D73-C64E-3555-0E337449D0C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87338" y="288000"/>
            <a:ext cx="7331824" cy="324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400" b="0"/>
            </a:lvl1pPr>
          </a:lstStyle>
          <a:p xmlns:a="http://schemas.openxmlformats.org/drawingml/2006/main">
            <a:pPr lvl="0">
              <a:buNone/>
            </a:pPr>
            <a:r>
              <a:t>Titel durch Klicken bearbeiten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2_Fazit_4Punk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platzhalter 31">
            <a:extLst xmlns:a="http://schemas.openxmlformats.org/drawingml/2006/main">
              <a:ext uri="{FF2B5EF4-FFF2-40B4-BE49-F238E27FC236}">
                <a16:creationId xmlns:a16="http://schemas.microsoft.com/office/drawing/2014/main" id="{2E5812C2-4CCD-4E30-B58A-301D453D27CD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153101" y="2946818"/>
            <a:ext cx="6229103" cy="783429"/>
          </a:xfrm>
          <a:custGeom xmlns:a="http://schemas.openxmlformats.org/drawingml/2006/main">
            <a:gdLst>
              <a:gd name="connsiteX0" fmla="*/ 5169 w 8305470"/>
              <a:gd name="connsiteY0" fmla="*/ 0 h 1044572"/>
              <a:gd name="connsiteX1" fmla="*/ 8305470 w 8305470"/>
              <a:gd name="connsiteY1" fmla="*/ 0 h 1044572"/>
              <a:gd name="connsiteX2" fmla="*/ 8305470 w 8305470"/>
              <a:gd name="connsiteY2" fmla="*/ 1044572 h 1044572"/>
              <a:gd name="connsiteX3" fmla="*/ 0 w 8305470"/>
              <a:gd name="connsiteY3" fmla="*/ 1044572 h 1044572"/>
              <a:gd name="connsiteX4" fmla="*/ 34801 w 8305470"/>
              <a:gd name="connsiteY4" fmla="*/ 980457 h 1044572"/>
              <a:gd name="connsiteX5" fmla="*/ 128262 w 8305470"/>
              <a:gd name="connsiteY5" fmla="*/ 517524 h 1044572"/>
              <a:gd name="connsiteX6" fmla="*/ 34801 w 8305470"/>
              <a:gd name="connsiteY6" fmla="*/ 54591 h 1044572"/>
            </a:gdLst>
            <a:rect l="l" t="t" r="r" b="b"/>
            <a:pathLst>
              <a:path w="8305470" h="1044572">
                <a:moveTo>
                  <a:pt x="5169" y="0"/>
                </a:moveTo>
                <a:lnTo>
                  <a:pt x="8305470" y="0"/>
                </a:lnTo>
                <a:lnTo>
                  <a:pt x="8305470" y="1044572"/>
                </a:lnTo>
                <a:lnTo>
                  <a:pt x="0" y="1044572"/>
                </a:lnTo>
                <a:lnTo>
                  <a:pt x="34801" y="980457"/>
                </a:lnTo>
                <a:cubicBezTo>
                  <a:pt x="94983" y="838170"/>
                  <a:pt x="128262" y="681733"/>
                  <a:pt x="128262" y="517524"/>
                </a:cubicBezTo>
                <a:cubicBezTo>
                  <a:pt x="128262" y="353315"/>
                  <a:pt x="94983" y="196879"/>
                  <a:pt x="34801" y="545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360000" tIns="72000" rIns="72000" bIns="72000" anchor="ctr">
            <a:noAutofit/>
          </a:bodyPr>
          <a:lstStyle xmlns:a="http://schemas.openxmlformats.org/drawingml/2006/main">
            <a:lvl1pPr marL="171450" indent="-171450">
              <a:lnSpc>
                <a:spcPct val="114000"/>
              </a:lnSpc>
              <a:spcAft>
                <a:spcPts val="600"/>
              </a:spcAft>
              <a:buClrTx/>
              <a:buFont typeface="Arial"/>
              <a:buChar char="•"/>
              <a:defRPr sz="1200">
                <a:ln>
                  <a:noFill/>
                </a:ln>
                <a:solidFill>
                  <a:sysClr val="windowText" lastClr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5pPr>
          </a:lstStyle>
          <a:p xmlns:a="http://schemas.openxmlformats.org/drawingml/2006/main">
            <a:pPr marL="128588" lvl="0" indent="-128588" defTabSz="685800">
              <a:spcAft>
                <a:spcPts val="450"/>
              </a:spcAft>
              <a:buNone/>
            </a:pPr>
            <a:r>
              <a:t>Mastertextformat bearbeiten</a:t>
            </a:r>
          </a:p>
        </p:txBody>
      </p:sp>
      <p:sp>
        <p:nvSpPr>
          <p:cNvPr id="30" name="Textplatzhalter 29">
            <a:extLst xmlns:a="http://schemas.openxmlformats.org/drawingml/2006/main">
              <a:ext uri="{FF2B5EF4-FFF2-40B4-BE49-F238E27FC236}">
                <a16:creationId xmlns:a16="http://schemas.microsoft.com/office/drawing/2014/main" id="{8DAC838D-B288-4DD7-85BA-FFEA7039F53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154393" y="2049088"/>
            <a:ext cx="6227811" cy="783429"/>
          </a:xfrm>
          <a:custGeom xmlns:a="http://schemas.openxmlformats.org/drawingml/2006/main">
            <a:gdLst>
              <a:gd name="connsiteX0" fmla="*/ 1723 w 8303748"/>
              <a:gd name="connsiteY0" fmla="*/ 0 h 1044572"/>
              <a:gd name="connsiteX1" fmla="*/ 8303748 w 8303748"/>
              <a:gd name="connsiteY1" fmla="*/ 0 h 1044572"/>
              <a:gd name="connsiteX2" fmla="*/ 8303748 w 8303748"/>
              <a:gd name="connsiteY2" fmla="*/ 1044572 h 1044572"/>
              <a:gd name="connsiteX3" fmla="*/ 0 w 8303748"/>
              <a:gd name="connsiteY3" fmla="*/ 1044572 h 1044572"/>
              <a:gd name="connsiteX4" fmla="*/ 33077 w 8303748"/>
              <a:gd name="connsiteY4" fmla="*/ 983631 h 1044572"/>
              <a:gd name="connsiteX5" fmla="*/ 126539 w 8303748"/>
              <a:gd name="connsiteY5" fmla="*/ 520698 h 1044572"/>
              <a:gd name="connsiteX6" fmla="*/ 33077 w 8303748"/>
              <a:gd name="connsiteY6" fmla="*/ 57765 h 1044572"/>
            </a:gdLst>
            <a:rect l="l" t="t" r="r" b="b"/>
            <a:pathLst>
              <a:path w="8303748" h="1044572">
                <a:moveTo>
                  <a:pt x="1723" y="0"/>
                </a:moveTo>
                <a:lnTo>
                  <a:pt x="8303748" y="0"/>
                </a:lnTo>
                <a:lnTo>
                  <a:pt x="8303748" y="1044572"/>
                </a:lnTo>
                <a:lnTo>
                  <a:pt x="0" y="1044572"/>
                </a:lnTo>
                <a:lnTo>
                  <a:pt x="33077" y="983631"/>
                </a:lnTo>
                <a:cubicBezTo>
                  <a:pt x="93260" y="841344"/>
                  <a:pt x="126539" y="684907"/>
                  <a:pt x="126539" y="520698"/>
                </a:cubicBezTo>
                <a:cubicBezTo>
                  <a:pt x="126539" y="356489"/>
                  <a:pt x="93260" y="200052"/>
                  <a:pt x="33077" y="577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360000" tIns="72000" rIns="72000" bIns="72000" anchor="ctr">
            <a:noAutofit/>
          </a:bodyPr>
          <a:lstStyle xmlns:a="http://schemas.openxmlformats.org/drawingml/2006/main">
            <a:lvl1pPr marL="171450" indent="-171450">
              <a:lnSpc>
                <a:spcPct val="114000"/>
              </a:lnSpc>
              <a:spcAft>
                <a:spcPts val="600"/>
              </a:spcAft>
              <a:buClrTx/>
              <a:buFont typeface="Arial"/>
              <a:buChar char="•"/>
              <a:defRPr sz="1200">
                <a:ln>
                  <a:noFill/>
                </a:ln>
                <a:solidFill>
                  <a:sysClr val="windowText" lastClr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5pPr>
          </a:lstStyle>
          <a:p xmlns:a="http://schemas.openxmlformats.org/drawingml/2006/main">
            <a:pPr marL="128588" lvl="0" indent="-128588" defTabSz="685800">
              <a:spcAft>
                <a:spcPts val="450"/>
              </a:spcAft>
              <a:buNone/>
            </a:pPr>
            <a:r>
              <a:t>Mastertextformat bearbeiten</a:t>
            </a:r>
          </a:p>
        </p:txBody>
      </p:sp>
      <p:sp>
        <p:nvSpPr>
          <p:cNvPr id="31" name="Textplatzhalter 30">
            <a:extLst xmlns:a="http://schemas.openxmlformats.org/drawingml/2006/main">
              <a:ext uri="{FF2B5EF4-FFF2-40B4-BE49-F238E27FC236}">
                <a16:creationId xmlns:a16="http://schemas.microsoft.com/office/drawing/2014/main" id="{C40E419A-4A38-4EBE-A1BE-5B67BC32D1A7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153101" y="1148975"/>
            <a:ext cx="6229103" cy="783429"/>
          </a:xfrm>
          <a:custGeom xmlns:a="http://schemas.openxmlformats.org/drawingml/2006/main">
            <a:gdLst>
              <a:gd name="connsiteX0" fmla="*/ 0 w 8305471"/>
              <a:gd name="connsiteY0" fmla="*/ 0 h 1044572"/>
              <a:gd name="connsiteX1" fmla="*/ 8305471 w 8305471"/>
              <a:gd name="connsiteY1" fmla="*/ 0 h 1044572"/>
              <a:gd name="connsiteX2" fmla="*/ 8305471 w 8305471"/>
              <a:gd name="connsiteY2" fmla="*/ 1044572 h 1044572"/>
              <a:gd name="connsiteX3" fmla="*/ 5169 w 8305471"/>
              <a:gd name="connsiteY3" fmla="*/ 1044572 h 1044572"/>
              <a:gd name="connsiteX4" fmla="*/ 34800 w 8305471"/>
              <a:gd name="connsiteY4" fmla="*/ 989981 h 1044572"/>
              <a:gd name="connsiteX5" fmla="*/ 128262 w 8305471"/>
              <a:gd name="connsiteY5" fmla="*/ 527048 h 1044572"/>
              <a:gd name="connsiteX6" fmla="*/ 34800 w 8305471"/>
              <a:gd name="connsiteY6" fmla="*/ 64115 h 1044572"/>
            </a:gdLst>
            <a:rect l="l" t="t" r="r" b="b"/>
            <a:pathLst>
              <a:path w="8305471" h="1044572">
                <a:moveTo>
                  <a:pt x="0" y="0"/>
                </a:moveTo>
                <a:lnTo>
                  <a:pt x="8305471" y="0"/>
                </a:lnTo>
                <a:lnTo>
                  <a:pt x="8305471" y="1044572"/>
                </a:lnTo>
                <a:lnTo>
                  <a:pt x="5169" y="1044572"/>
                </a:lnTo>
                <a:lnTo>
                  <a:pt x="34800" y="989981"/>
                </a:lnTo>
                <a:cubicBezTo>
                  <a:pt x="94983" y="847694"/>
                  <a:pt x="128262" y="691257"/>
                  <a:pt x="128262" y="527048"/>
                </a:cubicBezTo>
                <a:cubicBezTo>
                  <a:pt x="128262" y="362839"/>
                  <a:pt x="94983" y="206402"/>
                  <a:pt x="34800" y="641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360000" tIns="72000" rIns="72000" bIns="72000" anchor="ctr">
            <a:noAutofit/>
          </a:bodyPr>
          <a:lstStyle xmlns:a="http://schemas.openxmlformats.org/drawingml/2006/main">
            <a:lvl1pPr marL="171450" indent="-171450">
              <a:lnSpc>
                <a:spcPct val="114000"/>
              </a:lnSpc>
              <a:spcAft>
                <a:spcPts val="600"/>
              </a:spcAft>
              <a:buClrTx/>
              <a:buFont typeface="Arial"/>
              <a:buChar char="•"/>
              <a:defRPr sz="1200">
                <a:ln>
                  <a:noFill/>
                </a:ln>
                <a:solidFill>
                  <a:sysClr val="windowText" lastClr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5pPr>
          </a:lstStyle>
          <a:p xmlns:a="http://schemas.openxmlformats.org/drawingml/2006/main">
            <a:pPr marL="128588" lvl="0" indent="-128588" defTabSz="685800">
              <a:spcAft>
                <a:spcPts val="450"/>
              </a:spcAft>
              <a:buNone/>
            </a:pPr>
            <a:r>
              <a:t>Mastertextformat bearbeiten</a:t>
            </a:r>
          </a:p>
        </p:txBody>
      </p:sp>
      <p:sp>
        <p:nvSpPr>
          <p:cNvPr id="3" name="Kreis: nicht ausgefüllt 2">
            <a:extLst xmlns:a="http://schemas.openxmlformats.org/drawingml/2006/main">
              <a:ext uri="{FF2B5EF4-FFF2-40B4-BE49-F238E27FC236}">
                <a16:creationId xmlns:a16="http://schemas.microsoft.com/office/drawing/2014/main" id="{66DD0C89-A44D-4F3B-ACBA-66B98422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12" y="944186"/>
            <a:ext cx="1200150" cy="1200150"/>
          </a:xfrm>
          <a:prstGeom xmlns:a="http://schemas.openxmlformats.org/drawingml/2006/main" prst="donut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4" name="Kreis: nicht ausgefüllt 3">
            <a:extLst xmlns:a="http://schemas.openxmlformats.org/drawingml/2006/main">
              <a:ext uri="{FF2B5EF4-FFF2-40B4-BE49-F238E27FC236}">
                <a16:creationId xmlns:a16="http://schemas.microsoft.com/office/drawing/2014/main" id="{C549C3C1-BC1B-4401-A1CA-AF8DA1B9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12" y="1841917"/>
            <a:ext cx="1200150" cy="1200150"/>
          </a:xfrm>
          <a:prstGeom xmlns:a="http://schemas.openxmlformats.org/drawingml/2006/main" prst="donut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5" name="Kreis: nicht ausgefüllt 4">
            <a:extLst xmlns:a="http://schemas.openxmlformats.org/drawingml/2006/main">
              <a:ext uri="{FF2B5EF4-FFF2-40B4-BE49-F238E27FC236}">
                <a16:creationId xmlns:a16="http://schemas.microsoft.com/office/drawing/2014/main" id="{32900683-FA3F-4DA8-8530-78F5804E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12" y="2739649"/>
            <a:ext cx="1200150" cy="1200150"/>
          </a:xfrm>
          <a:prstGeom xmlns:a="http://schemas.openxmlformats.org/drawingml/2006/main" prst="donut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6" name="Halbbogen 5">
            <a:extLst xmlns:a="http://schemas.openxmlformats.org/drawingml/2006/main">
              <a:ext uri="{FF2B5EF4-FFF2-40B4-BE49-F238E27FC236}">
                <a16:creationId xmlns:a16="http://schemas.microsoft.com/office/drawing/2014/main" id="{B990D9FA-1758-49F3-80DC-36652EE4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0812" y="944186"/>
            <a:ext cx="1200150" cy="1200150"/>
          </a:xfrm>
          <a:prstGeom xmlns:a="http://schemas.openxmlformats.org/drawingml/2006/main" prst="blockArc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7" name="Halbbogen 6">
            <a:extLst xmlns:a="http://schemas.openxmlformats.org/drawingml/2006/main">
              <a:ext uri="{FF2B5EF4-FFF2-40B4-BE49-F238E27FC236}">
                <a16:creationId xmlns:a16="http://schemas.microsoft.com/office/drawing/2014/main" id="{6427C8AA-FD0D-4148-95EE-8DF7A2B3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60811" y="1841917"/>
            <a:ext cx="1200150" cy="1200150"/>
          </a:xfrm>
          <a:prstGeom xmlns:a="http://schemas.openxmlformats.org/drawingml/2006/main" prst="blockArc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8" name="Halbbogen 7">
            <a:extLst xmlns:a="http://schemas.openxmlformats.org/drawingml/2006/main">
              <a:ext uri="{FF2B5EF4-FFF2-40B4-BE49-F238E27FC236}">
                <a16:creationId xmlns:a16="http://schemas.microsoft.com/office/drawing/2014/main" id="{71A5FD8D-64CB-45C4-9231-E3876305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0810" y="2739649"/>
            <a:ext cx="1200150" cy="1200150"/>
          </a:xfrm>
          <a:prstGeom xmlns:a="http://schemas.openxmlformats.org/drawingml/2006/main" prst="blockArc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11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8D91B921-9580-4038-9476-16EB8E19531E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1141228" y="1329949"/>
            <a:ext cx="437224" cy="4377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050" b="1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0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031B722C-745A-408E-A95C-E6D21399B782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1142275" y="2223123"/>
            <a:ext cx="437224" cy="4377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050" b="1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1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1BB2584C-DE68-4767-A938-4F739E6720C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1142274" y="3120854"/>
            <a:ext cx="437224" cy="4377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050" b="1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5" name="Textplatzhalter 31">
            <a:extLst xmlns:a="http://schemas.openxmlformats.org/drawingml/2006/main">
              <a:ext uri="{FF2B5EF4-FFF2-40B4-BE49-F238E27FC236}">
                <a16:creationId xmlns:a16="http://schemas.microsoft.com/office/drawing/2014/main" id="{189D57AB-3166-42B5-AE88-DD42FA9FF2C6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2153101" y="3844548"/>
            <a:ext cx="6229103" cy="783429"/>
          </a:xfrm>
          <a:custGeom xmlns:a="http://schemas.openxmlformats.org/drawingml/2006/main">
            <a:gdLst>
              <a:gd name="connsiteX0" fmla="*/ 5169 w 8305470"/>
              <a:gd name="connsiteY0" fmla="*/ 0 h 1044572"/>
              <a:gd name="connsiteX1" fmla="*/ 8305470 w 8305470"/>
              <a:gd name="connsiteY1" fmla="*/ 0 h 1044572"/>
              <a:gd name="connsiteX2" fmla="*/ 8305470 w 8305470"/>
              <a:gd name="connsiteY2" fmla="*/ 1044572 h 1044572"/>
              <a:gd name="connsiteX3" fmla="*/ 0 w 8305470"/>
              <a:gd name="connsiteY3" fmla="*/ 1044572 h 1044572"/>
              <a:gd name="connsiteX4" fmla="*/ 34801 w 8305470"/>
              <a:gd name="connsiteY4" fmla="*/ 980457 h 1044572"/>
              <a:gd name="connsiteX5" fmla="*/ 128262 w 8305470"/>
              <a:gd name="connsiteY5" fmla="*/ 517524 h 1044572"/>
              <a:gd name="connsiteX6" fmla="*/ 34801 w 8305470"/>
              <a:gd name="connsiteY6" fmla="*/ 54591 h 1044572"/>
            </a:gdLst>
            <a:rect l="l" t="t" r="r" b="b"/>
            <a:pathLst>
              <a:path w="8305470" h="1044572">
                <a:moveTo>
                  <a:pt x="5169" y="0"/>
                </a:moveTo>
                <a:lnTo>
                  <a:pt x="8305470" y="0"/>
                </a:lnTo>
                <a:lnTo>
                  <a:pt x="8305470" y="1044572"/>
                </a:lnTo>
                <a:lnTo>
                  <a:pt x="0" y="1044572"/>
                </a:lnTo>
                <a:lnTo>
                  <a:pt x="34801" y="980457"/>
                </a:lnTo>
                <a:cubicBezTo>
                  <a:pt x="94983" y="838170"/>
                  <a:pt x="128262" y="681733"/>
                  <a:pt x="128262" y="517524"/>
                </a:cubicBezTo>
                <a:cubicBezTo>
                  <a:pt x="128262" y="353315"/>
                  <a:pt x="94983" y="196879"/>
                  <a:pt x="34801" y="545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360000" tIns="72000" rIns="72000" bIns="72000" anchor="ctr">
            <a:noAutofit/>
          </a:bodyPr>
          <a:lstStyle xmlns:a="http://schemas.openxmlformats.org/drawingml/2006/main">
            <a:lvl1pPr marL="171450" indent="-171450">
              <a:lnSpc>
                <a:spcPct val="114000"/>
              </a:lnSpc>
              <a:spcAft>
                <a:spcPts val="600"/>
              </a:spcAft>
              <a:buClrTx/>
              <a:buFont typeface="Arial"/>
              <a:buChar char="•"/>
              <a:defRPr sz="1200">
                <a:ln>
                  <a:noFill/>
                </a:ln>
                <a:solidFill>
                  <a:sysClr val="windowText" lastClr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buNone/>
              <a:defRPr sz="900">
                <a:solidFill>
                  <a:schemeClr val="lt1"/>
                </a:solidFill>
              </a:defRPr>
            </a:lvl5pPr>
          </a:lstStyle>
          <a:p xmlns:a="http://schemas.openxmlformats.org/drawingml/2006/main">
            <a:pPr marL="128588" lvl="0" indent="-128588" defTabSz="685800">
              <a:spcAft>
                <a:spcPts val="450"/>
              </a:spcAft>
              <a:buNone/>
            </a:pPr>
            <a:r>
              <a:t>Mastertextformat bearbeiten</a:t>
            </a:r>
          </a:p>
        </p:txBody>
      </p:sp>
      <p:sp>
        <p:nvSpPr>
          <p:cNvPr id="27" name="Kreis: nicht ausgefüllt 26">
            <a:extLst xmlns:a="http://schemas.openxmlformats.org/drawingml/2006/main">
              <a:ext uri="{FF2B5EF4-FFF2-40B4-BE49-F238E27FC236}">
                <a16:creationId xmlns:a16="http://schemas.microsoft.com/office/drawing/2014/main" id="{1FA669A7-E828-4682-84C2-A811F300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12" y="3630100"/>
            <a:ext cx="1200150" cy="1200150"/>
          </a:xfrm>
          <a:prstGeom xmlns:a="http://schemas.openxmlformats.org/drawingml/2006/main" prst="donut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29" name="Halbbogen 28">
            <a:extLst xmlns:a="http://schemas.openxmlformats.org/drawingml/2006/main">
              <a:ext uri="{FF2B5EF4-FFF2-40B4-BE49-F238E27FC236}">
                <a16:creationId xmlns:a16="http://schemas.microsoft.com/office/drawing/2014/main" id="{BC6373CD-2559-4612-B5E1-57530FE2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60810" y="3630100"/>
            <a:ext cx="1200150" cy="1200150"/>
          </a:xfrm>
          <a:prstGeom xmlns:a="http://schemas.openxmlformats.org/drawingml/2006/main" prst="blockArc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accent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54000" tIns="54000" rIns="54000" bIns="54000" anchor="t">
            <a:noAutofit/>
          </a:bodyPr>
          <a:lstStyle xmlns:a="http://schemas.openxmlformats.org/drawingml/2006/main"/>
          <a:p xmlns:a="http://schemas.openxmlformats.org/drawingml/2006/main">
            <a:pPr marL="128588" indent="-128588" algn="l">
              <a:spcAft>
                <a:spcPts val="450"/>
              </a:spcAft>
              <a:buFont typeface="Wingdings"/>
              <a:buChar char="§"/>
            </a:pPr>
          </a:p>
        </p:txBody>
      </p:sp>
      <p:sp>
        <p:nvSpPr>
          <p:cNvPr id="33" name="Textplatzhalter 10">
            <a:extLst xmlns:a="http://schemas.openxmlformats.org/drawingml/2006/main">
              <a:ext uri="{FF2B5EF4-FFF2-40B4-BE49-F238E27FC236}">
                <a16:creationId xmlns:a16="http://schemas.microsoft.com/office/drawing/2014/main" id="{6692F8E7-B6ED-4EF4-AFB8-37758952FFF3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1142274" y="4011305"/>
            <a:ext cx="437224" cy="4377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050" b="1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</a:p>
        </p:txBody>
      </p:sp>
      <p:sp useBgFill="1"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0384C7F3-1200-9883-1AC1-C5D1CC0934F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87338" y="288000"/>
            <a:ext cx="7331824" cy="324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400" b="0"/>
            </a:lvl1pPr>
          </a:lstStyle>
          <a:p xmlns:a="http://schemas.openxmlformats.org/drawingml/2006/main">
            <a:pPr lvl="0">
              <a:buNone/>
            </a:pPr>
            <a:r>
              <a:t>Titel durch Klicken bearbeiten</a:t>
            </a:r>
          </a:p>
        </p:txBody>
      </p:sp>
      <p:sp useBgFill="1">
        <p:nvSpPr>
          <p:cNvPr id="9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B203A6AD-0D83-70AE-B613-4924C5B4C20D}"/>
              </a:ext>
            </a:extLst>
          </p:cNvPr>
          <p:cNvSpPr>
            <a:spLocks xmlns:a="http://schemas.openxmlformats.org/drawingml/2006/main" noGrp="1"/>
          </p:cNvSpPr>
          <p:nvPr>
            <p:ph type="sldNum" idx="31"/>
          </p:nvPr>
        </p:nvSpPr>
        <p:spPr>
          <a:xfrm xmlns:a="http://schemas.openxmlformats.org/drawingml/2006/main">
            <a:off x="6774933" y="4854985"/>
            <a:ext cx="2081729" cy="2738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fld id="{CE58CB1E-F828-4F11-99E0-327109AF9DA4}" type="slidenum">
              <a:rPr>
                <a:solidFill>
                  <a:prstClr val="black"/>
                </a:solidFill>
              </a:rPr>
              <a:t>‹Nr.›</a:t>
            </a:fld>
          </a:p>
        </p:txBody>
      </p:sp>
      <p:sp useBgFill="1">
        <p:nvSpPr>
          <p:cNvPr id="10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196772CE-821B-3033-A012-A9890FE58F50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287338" y="4854985"/>
            <a:ext cx="6488104" cy="2738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prstClr val="black"/>
                </a:solidFill>
              </a:rPr>
              <a:t>TUM | Professorship for Big Geospatial Data Management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2_Content_Faz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D185FECC-F1AD-4D27-AAF6-DCFA4AAD746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87337" y="1029299"/>
            <a:ext cx="8569325" cy="3696699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lIns="108000" tIns="396000" rIns="72000"/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92D6024E-FE92-4F9B-B9F7-EC1CA86F5FA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287338" y="4352545"/>
            <a:ext cx="8569325" cy="381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lIns="108000" tIns="0" rIns="72000" bIns="0" anchor="ctr"/>
          <a:lstStyle xmlns:a="http://schemas.openxmlformats.org/drawingml/2006/main">
            <a:lvl1pPr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>
        <p:nvSpPr>
          <p:cNvPr id="21" name="Textplatzhalter 20">
            <a:extLst xmlns:a="http://schemas.openxmlformats.org/drawingml/2006/main">
              <a:ext uri="{FF2B5EF4-FFF2-40B4-BE49-F238E27FC236}">
                <a16:creationId xmlns:a16="http://schemas.microsoft.com/office/drawing/2014/main" id="{4EC78C1C-34BE-4C56-A1C1-11B81EE00735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32000" y="930744"/>
            <a:ext cx="7912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200" b="1"/>
            </a:lvl1pPr>
            <a:lvl2pPr marL="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Mastertextformat bearbeiten</a:t>
            </a:r>
          </a:p>
        </p:txBody>
      </p:sp>
      <p:sp useBgFill="1"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88899B9-EA94-5F60-5F2E-0C7BFC2E78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87338" y="288000"/>
            <a:ext cx="7331824" cy="324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>
            <a:lvl1pPr>
              <a:lnSpc>
                <a:spcPts val="3200"/>
              </a:lnSpc>
              <a:buNone/>
              <a:defRPr sz="2400" b="0"/>
            </a:lvl1pPr>
          </a:lstStyle>
          <a:p xmlns:a="http://schemas.openxmlformats.org/drawingml/2006/main">
            <a:pPr lvl="0">
              <a:buNone/>
            </a:pPr>
            <a:r>
              <a:t>Titel durch Klicken bearbeiten</a:t>
            </a:r>
          </a:p>
        </p:txBody>
      </p:sp>
      <p:sp useBgFill="1">
        <p:nvSpPr>
          <p:cNvPr id="3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C66F6B23-FF0D-208A-02E7-383827FB50CD}"/>
              </a:ext>
            </a:extLst>
          </p:cNvPr>
          <p:cNvSpPr>
            <a:spLocks xmlns:a="http://schemas.openxmlformats.org/drawingml/2006/main" noGrp="1"/>
          </p:cNvSpPr>
          <p:nvPr>
            <p:ph type="sldNum" idx="31"/>
          </p:nvPr>
        </p:nvSpPr>
        <p:spPr>
          <a:xfrm xmlns:a="http://schemas.openxmlformats.org/drawingml/2006/main">
            <a:off x="6774933" y="4854985"/>
            <a:ext cx="2081729" cy="2738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fld id="{CE58CB1E-F828-4F11-99E0-327109AF9DA4}" type="slidenum">
              <a:rPr>
                <a:solidFill>
                  <a:prstClr val="black"/>
                </a:solidFill>
              </a:rPr>
              <a:t>‹Nr.›</a:t>
            </a:fld>
          </a:p>
        </p:txBody>
      </p:sp>
      <p:sp useBgFill="1">
        <p:nvSpPr>
          <p:cNvPr id="5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A7A290F-4F2E-A9B0-1C18-4103F6DD9B7C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287338" y="4854985"/>
            <a:ext cx="6488104" cy="2738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prstClr val="black"/>
                </a:solidFill>
              </a:rPr>
              <a:t>TUM | Professorship for Big Geospatial Data Management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FE46B4-C7C7-3138-F404-25F2EDA74B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6408" y="2126615"/>
            <a:ext cx="8569326" cy="993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>
              <a:buNone/>
              <a:defRPr sz="44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881982E-9CE4-60CD-5B0D-FE035DAE557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‹Nr.›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25C6255-E701-E7D7-72D7-73576CC57C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TUM | Professorship for Big Geospatial Data Management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993101E8-FF36-77A5-4E07-64F16DD2E16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85750" y="3314700"/>
            <a:ext cx="8570913" cy="127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2000" b="1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FE46B4-C7C7-3138-F404-25F2EDA74B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6408" y="2126615"/>
            <a:ext cx="8569326" cy="993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>
              <a:buNone/>
              <a:defRPr sz="44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881982E-9CE4-60CD-5B0D-FE035DAE557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58CB1E-F828-4F11-99E0-327109AF9DA4}" type="slidenum">
              <a:t>‹Nr.›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25C6255-E701-E7D7-72D7-73576CC57C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TUM | Professorship for Big Geospatial Data Management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993101E8-FF36-77A5-4E07-64F16DD2E16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85750" y="3314700"/>
            <a:ext cx="8570913" cy="127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2000" b="1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wmf" Id="R3c64f328377247df" /><Relationship Type="http://schemas.openxmlformats.org/officeDocument/2006/relationships/image" Target="/ppt/media/image.emf" Id="R97e7b65094bf430a" /><Relationship Type="http://schemas.openxmlformats.org/officeDocument/2006/relationships/image" Target="/ppt/media/image.svg" Id="R3243b1d3306f426e" /><Relationship Type="http://schemas.openxmlformats.org/officeDocument/2006/relationships/theme" Target="/ppt/slideMasters/theme/theme2.xml" Id="R0b344adfaf6b4890" /><Relationship Type="http://schemas.openxmlformats.org/officeDocument/2006/relationships/slideLayout" Target="/ppt/slideLayouts/slideLayout1.xml" Id="Rb8775ece33bf4828" /><Relationship Type="http://schemas.openxmlformats.org/officeDocument/2006/relationships/slideLayout" Target="/ppt/slideLayouts/slideLayout2.xml" Id="R215cf4a1935f4270" /><Relationship Type="http://schemas.openxmlformats.org/officeDocument/2006/relationships/slideLayout" Target="/ppt/slideLayouts/slideLayout3.xml" Id="Reec62ddead344a12" /><Relationship Type="http://schemas.openxmlformats.org/officeDocument/2006/relationships/slideLayout" Target="/ppt/slideLayouts/slideLayout4.xml" Id="R67cb9e2fdcd4493c" /><Relationship Type="http://schemas.openxmlformats.org/officeDocument/2006/relationships/slideLayout" Target="/ppt/slideLayouts/slideLayout5.xml" Id="Rbc7a45e393204aa7" /><Relationship Type="http://schemas.openxmlformats.org/officeDocument/2006/relationships/slideLayout" Target="/ppt/slideLayouts/slideLayout6.xml" Id="Rce3903dc41b2496e" /><Relationship Type="http://schemas.openxmlformats.org/officeDocument/2006/relationships/slideLayout" Target="/ppt/slideLayouts/slideLayout7.xml" Id="R75163bf47d9e4073" /><Relationship Type="http://schemas.openxmlformats.org/officeDocument/2006/relationships/slideLayout" Target="/ppt/slideLayouts/slideLayout8.xml" Id="Rf10218cd35734fd3" /><Relationship Type="http://schemas.openxmlformats.org/officeDocument/2006/relationships/slideLayout" Target="/ppt/slideLayouts/slideLayout9.xml" Id="R1fbc68d27b804cec" /><Relationship Type="http://schemas.openxmlformats.org/officeDocument/2006/relationships/slideLayout" Target="/ppt/slideLayouts/slideLayout10.xml" Id="R814aa55eb69f4c32" /><Relationship Type="http://schemas.openxmlformats.org/officeDocument/2006/relationships/slideLayout" Target="/ppt/slideLayouts/slideLayout11.xml" Id="R11a61d08760246f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emf" Id="R4584d7667b764f1d" /><Relationship Type="http://schemas.openxmlformats.org/officeDocument/2006/relationships/image" Target="/ppt/media/image.jpeg" Id="R5d4ffd2d077c4f71" /><Relationship Type="http://schemas.openxmlformats.org/officeDocument/2006/relationships/image" Target="/ppt/media/image2.svg" Id="R10a69076f77343e5" /><Relationship Type="http://schemas.openxmlformats.org/officeDocument/2006/relationships/theme" Target="/ppt/slideMasters/theme/theme3.xml" Id="R4d704e729f4d4ab7" /><Relationship Type="http://schemas.openxmlformats.org/officeDocument/2006/relationships/slideLayout" Target="/ppt/slideLayouts/slideLayout12.xml" Id="R8e08c75f05fa4be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emf" Id="Rfd3b6d4f99464ced" /><Relationship Type="http://schemas.openxmlformats.org/officeDocument/2006/relationships/image" Target="/ppt/media/image.jpeg" Id="R84e7ee3e55634a40" /><Relationship Type="http://schemas.openxmlformats.org/officeDocument/2006/relationships/image" Target="/ppt/media/image2.svg" Id="R710e860b7ff84ff9" /><Relationship Type="http://schemas.openxmlformats.org/officeDocument/2006/relationships/theme" Target="/ppt/slideMasters/theme/theme4.xml" Id="R661fac1b61dc4b94" /><Relationship Type="http://schemas.openxmlformats.org/officeDocument/2006/relationships/slideLayout" Target="/ppt/slideLayouts/slideLayout13.xml" Id="Rb55003092efc49e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A0A7CC1-1752-4CEE-84C2-CA7F992CA4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774933" y="4854985"/>
            <a:ext cx="2081729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‹Nr.›</a:t>
            </a:fld>
          </a:p>
        </p:txBody>
      </p:sp>
      <p:sp>
        <p:nvSpPr>
          <p:cNvPr id="6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D1EB75D8-2C1F-4B6C-AE82-5CA36E042F0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87338" y="4854985"/>
            <a:ext cx="6488104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prstClr val="black"/>
                </a:solidFill>
              </a:rPr>
              <a:t>TUM | Professorship for Big Geospatial Data Management</a:t>
            </a:r>
          </a:p>
        </p:txBody>
      </p:sp>
      <p:pic>
        <p:nvPicPr>
          <p:cNvPr id="11" name="Bild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4f3283772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3985" y="288000"/>
            <a:ext cx="613649" cy="324000"/>
          </a:xfrm>
          <a:prstGeom xmlns:a="http://schemas.openxmlformats.org/drawingml/2006/main" prst="rect">
            <a:avLst/>
          </a:prstGeom>
        </p:spPr>
      </p:pic>
      <p:pic>
        <p:nvPicPr>
          <p:cNvPr id="12" name="Graphic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7b65094bf430a">
            <a:extLst>
              <a:ext uri="{96DAC541-7B7A-43D3-8B79-37D633B846F1}">
                <asvg:svgBlip xmlns:asvg="http://schemas.microsoft.com/office/drawing/2016/SVG/main" r:embed="R3243b1d3306f426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4034" y="288000"/>
            <a:ext cx="323190" cy="3240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775ece33bf4828"/>
    <p:sldLayoutId xmlns:r="http://schemas.openxmlformats.org/officeDocument/2006/relationships" id="2147483650" r:id="R215cf4a1935f4270"/>
    <p:sldLayoutId xmlns:r="http://schemas.openxmlformats.org/officeDocument/2006/relationships" id="2147483651" r:id="Reec62ddead344a12"/>
    <p:sldLayoutId xmlns:r="http://schemas.openxmlformats.org/officeDocument/2006/relationships" id="2147483652" r:id="R67cb9e2fdcd4493c"/>
    <p:sldLayoutId xmlns:r="http://schemas.openxmlformats.org/officeDocument/2006/relationships" id="2147483653" r:id="Rbc7a45e393204aa7"/>
    <p:sldLayoutId xmlns:r="http://schemas.openxmlformats.org/officeDocument/2006/relationships" id="2147483654" r:id="Rce3903dc41b2496e"/>
    <p:sldLayoutId xmlns:r="http://schemas.openxmlformats.org/officeDocument/2006/relationships" id="2147483655" r:id="R75163bf47d9e4073"/>
    <p:sldLayoutId xmlns:r="http://schemas.openxmlformats.org/officeDocument/2006/relationships" id="2147483656" r:id="Rf10218cd35734fd3"/>
    <p:sldLayoutId xmlns:r="http://schemas.openxmlformats.org/officeDocument/2006/relationships" id="2147483657" r:id="R1fbc68d27b804cec"/>
    <p:sldLayoutId xmlns:r="http://schemas.openxmlformats.org/officeDocument/2006/relationships" id="2147483658" r:id="R814aa55eb69f4c32"/>
    <p:sldLayoutId xmlns:r="http://schemas.openxmlformats.org/officeDocument/2006/relationships" id="2147483659" r:id="R11a61d08760246f8"/>
  </p:sldLayoutIdLst>
  <p:hf hdr="0" dt="0"/>
  <p:txStyles>
    <p:titleStyle>
      <a:lvl1pPr xmlns:a="http://schemas.openxmlformats.org/drawingml/2006/main" algn="l">
        <a:lnSpc>
          <a:spcPct val="125000"/>
        </a:lnSpc>
        <a:spcBef>
          <a:spcPct val="0"/>
        </a:spcBef>
        <a:spcAft>
          <a:spcPct val="0"/>
        </a:spcAft>
        <a:buNone/>
        <a:defRPr sz="2500" b="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ct val="0"/>
        </a:spcBef>
        <a:spcAft>
          <a:spcPct val="0"/>
        </a:spcAft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76213" indent="-176213" algn="l">
        <a:lnSpc>
          <a:spcPct val="100000"/>
        </a:lnSpc>
        <a:spcBef>
          <a:spcPct val="0"/>
        </a:spcBef>
        <a:spcAft>
          <a:spcPct val="0"/>
        </a:spcAft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60363" indent="-184150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38163" indent="-177800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14375" indent="-176213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 userDrawn="1">
          <p15:clr>
            <a:srgbClr xmlns:a="http://schemas.openxmlformats.org/drawingml/2006/main" val="F26B43"/>
          </p15:clr>
        </p15:guide>
        <p15:guide id="2" pos="2880" userDrawn="1">
          <p15:clr>
            <a:srgbClr xmlns:a="http://schemas.openxmlformats.org/drawingml/2006/main" val="F26B43"/>
          </p15:clr>
        </p15:guide>
        <p15:guide id="3" orient="horz" pos="395" userDrawn="1">
          <p15:clr>
            <a:srgbClr xmlns:a="http://schemas.openxmlformats.org/drawingml/2006/main" val="F26B43"/>
          </p15:clr>
        </p15:guide>
        <p15:guide id="4" pos="181" userDrawn="1">
          <p15:clr>
            <a:srgbClr xmlns:a="http://schemas.openxmlformats.org/drawingml/2006/main" val="F26B43"/>
          </p15:clr>
        </p15:guide>
        <p15:guide id="5" pos="5579" userDrawn="1">
          <p15:clr>
            <a:srgbClr xmlns:a="http://schemas.openxmlformats.org/drawingml/2006/main" val="F26B43"/>
          </p15:clr>
        </p15:guide>
        <p15:guide id="6" orient="horz" pos="645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00529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Bild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4d7667b764f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43999" y="288000"/>
            <a:ext cx="615600" cy="324000"/>
          </a:xfrm>
          <a:prstGeom xmlns:a="http://schemas.openxmlformats.org/drawingml/2006/main" prst="rect">
            <a:avLst/>
          </a:prstGeom>
        </p:spPr>
      </p:pic>
      <p:pic>
        <p:nvPicPr>
          <p:cNvPr id="20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ffd2d077c4f71">
            <a:extLst>
              <a:ext uri="{96DAC541-7B7A-43D3-8B79-37D633B846F1}">
                <asvg:svgBlip xmlns:asvg="http://schemas.microsoft.com/office/drawing/2016/SVG/main" r:embed="R10a69076f77343e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776000" y="288000"/>
            <a:ext cx="324000" cy="324000"/>
          </a:xfrm>
          <a:prstGeom xmlns:a="http://schemas.openxmlformats.org/drawingml/2006/main" prst="rect">
            <a:avLst/>
          </a:prstGeom>
        </p:spPr>
      </p:pic>
      <p:sp>
        <p:nvSpPr>
          <p:cNvPr id="15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66EE80C6-9905-EF5C-A84A-6046B216FEE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774934" y="4854985"/>
            <a:ext cx="20808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9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‹Nr.›</a:t>
            </a:fld>
          </a:p>
        </p:txBody>
      </p:sp>
      <p:sp>
        <p:nvSpPr>
          <p:cNvPr id="16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2532351-9B6D-D9AD-E72C-0C4D68C4A25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88000" y="4856400"/>
            <a:ext cx="64872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900" spc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TUM | Professorship for Big Geospatial Data Management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e08c75f05fa4be3"/>
  </p:sldLayoutIdLst>
  <p:hf hdr="0" dt="0"/>
  <p:txStyles>
    <p:titleStyle>
      <a:lvl1pPr xmlns:a="http://schemas.openxmlformats.org/drawingml/2006/main" algn="l">
        <a:lnSpc>
          <a:spcPct val="125000"/>
        </a:lnSpc>
        <a:spcBef>
          <a:spcPct val="0"/>
        </a:spcBef>
        <a:spcAft>
          <a:spcPct val="0"/>
        </a:spcAft>
        <a:buNone/>
        <a:defRPr sz="2200" b="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ct val="0"/>
        </a:spcBef>
        <a:spcAft>
          <a:spcPct val="0"/>
        </a:spcAft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76213" indent="-176213" algn="l">
        <a:lnSpc>
          <a:spcPct val="100000"/>
        </a:lnSpc>
        <a:spcBef>
          <a:spcPct val="0"/>
        </a:spcBef>
        <a:spcAft>
          <a:spcPct val="0"/>
        </a:spcAft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60363" indent="-184150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38163" indent="-177800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14375" indent="-176213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xmlns:a="http://schemas.openxmlformats.org/drawingml/2006/main" val="F26B43"/>
          </p15:clr>
        </p15:guide>
        <p15:guide id="2" pos="2880" userDrawn="1">
          <p15:clr>
            <a:srgbClr xmlns:a="http://schemas.openxmlformats.org/drawingml/2006/main" val="F26B43"/>
          </p15:clr>
        </p15:guide>
        <p15:guide id="3" orient="horz" pos="395" userDrawn="1">
          <p15:clr>
            <a:srgbClr xmlns:a="http://schemas.openxmlformats.org/drawingml/2006/main" val="F26B43"/>
          </p15:clr>
        </p15:guide>
        <p15:guide id="4" orient="horz" pos="645" userDrawn="1">
          <p15:clr>
            <a:srgbClr xmlns:a="http://schemas.openxmlformats.org/drawingml/2006/main" val="F26B43"/>
          </p15:clr>
        </p15:guide>
        <p15:guide id="5" pos="181" userDrawn="1">
          <p15:clr>
            <a:srgbClr xmlns:a="http://schemas.openxmlformats.org/drawingml/2006/main" val="F26B43"/>
          </p15:clr>
        </p15:guide>
        <p15:guide id="6" pos="5579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Bild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b6d4f99464c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43999" y="288000"/>
            <a:ext cx="615600" cy="324000"/>
          </a:xfrm>
          <a:prstGeom xmlns:a="http://schemas.openxmlformats.org/drawingml/2006/main" prst="rect">
            <a:avLst/>
          </a:prstGeom>
        </p:spPr>
      </p:pic>
      <p:pic>
        <p:nvPicPr>
          <p:cNvPr id="20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7ee3e55634a40">
            <a:extLst>
              <a:ext uri="{96DAC541-7B7A-43D3-8B79-37D633B846F1}">
                <asvg:svgBlip xmlns:asvg="http://schemas.microsoft.com/office/drawing/2016/SVG/main" r:embed="R710e860b7ff84f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776000" y="288000"/>
            <a:ext cx="324000" cy="324000"/>
          </a:xfrm>
          <a:prstGeom xmlns:a="http://schemas.openxmlformats.org/drawingml/2006/main" prst="rect">
            <a:avLst/>
          </a:prstGeom>
        </p:spPr>
      </p:pic>
      <p:sp>
        <p:nvSpPr>
          <p:cNvPr id="15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66EE80C6-9905-EF5C-A84A-6046B216FEE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774934" y="4854985"/>
            <a:ext cx="20808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900"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E58CB1E-F828-4F11-99E0-327109AF9DA4}" type="slidenum">
              <a:t>‹Nr.›</a:t>
            </a:fld>
          </a:p>
        </p:txBody>
      </p:sp>
      <p:sp>
        <p:nvSpPr>
          <p:cNvPr id="16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2532351-9B6D-D9AD-E72C-0C4D68C4A25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88000" y="4856400"/>
            <a:ext cx="64872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900" spc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TUM | Professorship for Big Geospatial Data Management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b55003092efc49ed"/>
  </p:sldLayoutIdLst>
  <p:hf hdr="0" dt="0"/>
  <p:txStyles>
    <p:titleStyle>
      <a:lvl1pPr xmlns:a="http://schemas.openxmlformats.org/drawingml/2006/main" algn="l">
        <a:lnSpc>
          <a:spcPct val="125000"/>
        </a:lnSpc>
        <a:spcBef>
          <a:spcPct val="0"/>
        </a:spcBef>
        <a:spcAft>
          <a:spcPct val="0"/>
        </a:spcAft>
        <a:buNone/>
        <a:defRPr sz="2200" b="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2000" b="1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ct val="0"/>
        </a:spcBef>
        <a:spcAft>
          <a:spcPct val="0"/>
        </a:spcAft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76213" indent="-176213" algn="l">
        <a:lnSpc>
          <a:spcPct val="100000"/>
        </a:lnSpc>
        <a:spcBef>
          <a:spcPct val="0"/>
        </a:spcBef>
        <a:spcAft>
          <a:spcPct val="0"/>
        </a:spcAft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60363" indent="-184150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38163" indent="-177800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14375" indent="-176213" algn="l">
        <a:lnSpc>
          <a:spcPct val="125000"/>
        </a:lnSpc>
        <a:spcBef>
          <a:spcPct val="0"/>
        </a:spcBef>
        <a:spcAft>
          <a:spcPct val="0"/>
        </a:spcAft>
        <a:buFont typeface="Symbol"/>
        <a:buChar char="-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xmlns:a="http://schemas.openxmlformats.org/drawingml/2006/main" val="F26B43"/>
          </p15:clr>
        </p15:guide>
        <p15:guide id="2" pos="2880" userDrawn="1">
          <p15:clr>
            <a:srgbClr xmlns:a="http://schemas.openxmlformats.org/drawingml/2006/main" val="F26B43"/>
          </p15:clr>
        </p15:guide>
        <p15:guide id="3" orient="horz" pos="395" userDrawn="1">
          <p15:clr>
            <a:srgbClr xmlns:a="http://schemas.openxmlformats.org/drawingml/2006/main" val="F26B43"/>
          </p15:clr>
        </p15:guide>
        <p15:guide id="4" orient="horz" pos="645" userDrawn="1">
          <p15:clr>
            <a:srgbClr xmlns:a="http://schemas.openxmlformats.org/drawingml/2006/main" val="F26B43"/>
          </p15:clr>
        </p15:guide>
        <p15:guide id="5" pos="181" userDrawn="1">
          <p15:clr>
            <a:srgbClr xmlns:a="http://schemas.openxmlformats.org/drawingml/2006/main" val="F26B43"/>
          </p15:clr>
        </p15:guide>
        <p15:guide id="6" pos="5579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BGD Standar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1_Kapiteltrenner black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ccdfe66154147" /><Relationship Type="http://schemas.openxmlformats.org/officeDocument/2006/relationships/notesSlide" Target="/ppt/notesSlides/notesSlide1.xml" Id="Rb560665be35b43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6d0017ba4419a" /><Relationship Type="http://schemas.openxmlformats.org/officeDocument/2006/relationships/notesSlide" Target="/ppt/notesSlides/notesSlide2.xml" Id="R4e7f686152644c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6caf8e69a4c82" /><Relationship Type="http://schemas.openxmlformats.org/officeDocument/2006/relationships/notesSlide" Target="/ppt/notesSlides/notesSlide3.xml" Id="R1b8cbeef058d4a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e68ff06e340d2" /><Relationship Type="http://schemas.openxmlformats.org/officeDocument/2006/relationships/notesSlide" Target="/ppt/notesSlides/notesSlide4.xml" Id="Raa2641d615f14a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427281be3d4cb0" /><Relationship Type="http://schemas.openxmlformats.org/officeDocument/2006/relationships/chart" Target="/ppt/slides/charts/chart1.xml" Id="Re3006ee2325b4041" /><Relationship Type="http://schemas.openxmlformats.org/officeDocument/2006/relationships/notesSlide" Target="/ppt/notesSlides/notesSlide5.xml" Id="R47a5ff1efc7241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b4f3140b6141b8" /><Relationship Type="http://schemas.openxmlformats.org/officeDocument/2006/relationships/chart" Target="/ppt/slides/charts/chart2.xml" Id="Rf87ffa6b98bc495f" /><Relationship Type="http://schemas.openxmlformats.org/officeDocument/2006/relationships/chart" Target="/ppt/slides/charts/chart3.xml" Id="R41f75697e72f4f3f" /><Relationship Type="http://schemas.openxmlformats.org/officeDocument/2006/relationships/notesSlide" Target="/ppt/notesSlides/notesSlide6.xml" Id="R2a429edec80144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eed757f624918" /><Relationship Type="http://schemas.openxmlformats.org/officeDocument/2006/relationships/chart" Target="/ppt/slides/charts/chart4.xml" Id="Rf2a5a33cda43468d" /><Relationship Type="http://schemas.openxmlformats.org/officeDocument/2006/relationships/notesSlide" Target="/ppt/notesSlides/notesSlide7.xml" Id="R14ba76c238dc48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16264973442c6" /><Relationship Type="http://schemas.openxmlformats.org/officeDocument/2006/relationships/chart" Target="/ppt/slides/charts/chart5.xml" Id="R190eab5af50b4617" /><Relationship Type="http://schemas.openxmlformats.org/officeDocument/2006/relationships/notesSlide" Target="/ppt/notesSlides/notesSlide8.xml" Id="Rfe968bac2c4946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f9bd43c21f43c9" /><Relationship Type="http://schemas.openxmlformats.org/officeDocument/2006/relationships/notesSlide" Target="/ppt/notesSlides/notesSlide9.xml" Id="R24e576723ccf43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a856cadc54763" /><Relationship Type="http://schemas.openxmlformats.org/officeDocument/2006/relationships/notesSlide" Target="/ppt/notesSlides/notesSlide10.xml" Id="Rf6711d92c8ee468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Observed tanker transits</c:v>
          </c:tx>
          <c:spPr>
            <a:ln xmlns:a="http://schemas.openxmlformats.org/drawingml/2006/main" w="21908">
              <a:solidFill>
                <a:srgbClr val="000000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20"/>
              <c:pt idx="0">
                <c:v>28/02</c:v>
              </c:pt>
              <c:pt idx="1">
                <c:v>07/03</c:v>
              </c:pt>
              <c:pt idx="2">
                <c:v>14/03</c:v>
              </c:pt>
              <c:pt idx="3">
                <c:v>21/03</c:v>
              </c:pt>
              <c:pt idx="4">
                <c:v>28/03</c:v>
              </c:pt>
              <c:pt idx="5">
                <c:v>04/04</c:v>
              </c:pt>
              <c:pt idx="6">
                <c:v>11/04</c:v>
              </c:pt>
              <c:pt idx="7">
                <c:v>18/04</c:v>
              </c:pt>
              <c:pt idx="8">
                <c:v>25/04</c:v>
              </c:pt>
              <c:pt idx="9">
                <c:v>02/05</c:v>
              </c:pt>
              <c:pt idx="10">
                <c:v>09/05</c:v>
              </c:pt>
              <c:pt idx="11">
                <c:v>16/05</c:v>
              </c:pt>
              <c:pt idx="12">
                <c:v>23/05</c:v>
              </c:pt>
              <c:pt idx="13">
                <c:v>30/05</c:v>
              </c:pt>
              <c:pt idx="14">
                <c:v>06/06</c:v>
              </c:pt>
              <c:pt idx="15">
                <c:v>13/06</c:v>
              </c:pt>
              <c:pt idx="16">
                <c:v>20/06</c:v>
              </c:pt>
              <c:pt idx="17">
                <c:v>27/06</c:v>
              </c:pt>
              <c:pt idx="18">
                <c:v>04/07</c:v>
              </c:pt>
              <c:pt idx="19">
                <c:v>07/07</c:v>
              </c:pt>
            </c:strLit>
          </c:cat>
          <c:val>
            <c:numLit>
              <c:formatCode>General</c:formatCode>
              <c:ptCount val="20"/>
              <c:pt idx="0">
                <c:v>35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1</c:v>
              </c:pt>
              <c:pt idx="5">
                <c:v>4</c:v>
              </c:pt>
              <c:pt idx="6">
                <c:v>4</c:v>
              </c:pt>
              <c:pt idx="7">
                <c:v>14</c:v>
              </c:pt>
              <c:pt idx="8">
                <c:v>2</c:v>
              </c:pt>
              <c:pt idx="9">
                <c:v>5</c:v>
              </c:pt>
              <c:pt idx="10">
                <c:v>2</c:v>
              </c:pt>
              <c:pt idx="11">
                <c:v>2</c:v>
              </c:pt>
              <c:pt idx="12">
                <c:v>1</c:v>
              </c:pt>
              <c:pt idx="13">
                <c:v>1</c:v>
              </c:pt>
              <c:pt idx="14">
                <c:v>0</c:v>
              </c:pt>
              <c:pt idx="15">
                <c:v>0</c:v>
              </c:pt>
              <c:pt idx="16">
                <c:v>12</c:v>
              </c:pt>
              <c:pt idx="17">
                <c:v>9</c:v>
              </c:pt>
              <c:pt idx="18">
                <c:v>11</c:v>
              </c:pt>
              <c:pt idx="19">
                <c:v>12</c:v>
              </c:pt>
            </c:numLit>
          </c:val>
        </c:ser>
        <c:ser>
          <c:idx val="1"/>
          <c:order val="1"/>
          <c:tx>
            <c:v>AR-only counterfactual</c:v>
          </c:tx>
          <c:spPr>
            <a:ln xmlns:a="http://schemas.openxmlformats.org/drawingml/2006/main" w="28575">
              <a:solidFill>
                <a:srgbClr val="0065BD"/>
              </a:solidFill>
              <a:prstDash val="solid"/>
            </a:ln>
          </c:spPr>
          <c:marker>
            <c:symbol val="none"/>
          </c:marker>
          <c:cat>
            <c:strLit>
              <c:ptCount val="20"/>
              <c:pt idx="0">
                <c:v>28/02</c:v>
              </c:pt>
              <c:pt idx="1">
                <c:v>07/03</c:v>
              </c:pt>
              <c:pt idx="2">
                <c:v>14/03</c:v>
              </c:pt>
              <c:pt idx="3">
                <c:v>21/03</c:v>
              </c:pt>
              <c:pt idx="4">
                <c:v>28/03</c:v>
              </c:pt>
              <c:pt idx="5">
                <c:v>04/04</c:v>
              </c:pt>
              <c:pt idx="6">
                <c:v>11/04</c:v>
              </c:pt>
              <c:pt idx="7">
                <c:v>18/04</c:v>
              </c:pt>
              <c:pt idx="8">
                <c:v>25/04</c:v>
              </c:pt>
              <c:pt idx="9">
                <c:v>02/05</c:v>
              </c:pt>
              <c:pt idx="10">
                <c:v>09/05</c:v>
              </c:pt>
              <c:pt idx="11">
                <c:v>16/05</c:v>
              </c:pt>
              <c:pt idx="12">
                <c:v>23/05</c:v>
              </c:pt>
              <c:pt idx="13">
                <c:v>30/05</c:v>
              </c:pt>
              <c:pt idx="14">
                <c:v>06/06</c:v>
              </c:pt>
              <c:pt idx="15">
                <c:v>13/06</c:v>
              </c:pt>
              <c:pt idx="16">
                <c:v>20/06</c:v>
              </c:pt>
              <c:pt idx="17">
                <c:v>27/06</c:v>
              </c:pt>
              <c:pt idx="18">
                <c:v>04/07</c:v>
              </c:pt>
              <c:pt idx="19">
                <c:v>07/07</c:v>
              </c:pt>
            </c:strLit>
          </c:cat>
          <c:val>
            <c:numLit>
              <c:formatCode>General</c:formatCode>
              <c:ptCount val="20"/>
              <c:pt idx="0">
                <c:v>48.60970317957965</c:v>
              </c:pt>
              <c:pt idx="1">
                <c:v>54.314705390711914</c:v>
              </c:pt>
              <c:pt idx="2">
                <c:v>56.876365661004144</c:v>
              </c:pt>
              <c:pt idx="3">
                <c:v>57.607385171182365</c:v>
              </c:pt>
              <c:pt idx="4">
                <c:v>57.79793789023282</c:v>
              </c:pt>
              <c:pt idx="5">
                <c:v>57.851878050856584</c:v>
              </c:pt>
              <c:pt idx="6">
                <c:v>57.8702162793848</c:v>
              </c:pt>
              <c:pt idx="7">
                <c:v>57.87744526866214</c:v>
              </c:pt>
              <c:pt idx="8">
                <c:v>57.880449628511535</c:v>
              </c:pt>
              <c:pt idx="9">
                <c:v>57.88169200776254</c:v>
              </c:pt>
              <c:pt idx="10">
                <c:v>57.88219502627137</c:v>
              </c:pt>
              <c:pt idx="11">
                <c:v>57.88239502014791</c:v>
              </c:pt>
              <c:pt idx="12">
                <c:v>57.88247371501947</c:v>
              </c:pt>
              <c:pt idx="13">
                <c:v>57.88250456718825</c:v>
              </c:pt>
              <c:pt idx="14">
                <c:v>57.88251666532745</c:v>
              </c:pt>
              <c:pt idx="15">
                <c:v>57.88252141692789</c:v>
              </c:pt>
              <c:pt idx="16">
                <c:v>57.882523285913315</c:v>
              </c:pt>
              <c:pt idx="17">
                <c:v>57.88252402169625</c:v>
              </c:pt>
              <c:pt idx="18">
                <c:v>57.88252431144728</c:v>
              </c:pt>
              <c:pt idx="19">
                <c:v>56.51604723834683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A96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65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7C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4A565A"/>
                    </a:solidFill>
                  </a:rPr>
                  <a:t>Daily tanker transits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4A565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A96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65A"/>
                </a:solidFill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4A565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Cumulative throughput loss</c:v>
          </c:tx>
          <c:spPr>
            <a:solidFill xmlns:a="http://schemas.openxmlformats.org/drawingml/2006/main">
              <a:srgbClr val="64A0C8"/>
            </a:solidFill>
          </c:spPr>
          <c:invertIfNegative val="0"/>
          <c:dPt>
            <c:idx val="7"/>
            <c:invertIfNegative val="0"/>
            <c:spPr>
              <a:solidFill xmlns:a="http://schemas.openxmlformats.org/drawingml/2006/main">
                <a:srgbClr val="E37222"/>
              </a:solidFill>
            </c:spPr>
          </c:dPt>
          <c:cat>
            <c:strLit>
              <c:ptCount val="8"/>
              <c:pt idx="0">
                <c:v>P1</c:v>
              </c:pt>
              <c:pt idx="1">
                <c:v>P2</c:v>
              </c:pt>
              <c:pt idx="2">
                <c:v>P3</c:v>
              </c:pt>
              <c:pt idx="3">
                <c:v>P4</c:v>
              </c:pt>
              <c:pt idx="4">
                <c:v>P5</c:v>
              </c:pt>
              <c:pt idx="5">
                <c:v>P6</c:v>
              </c:pt>
              <c:pt idx="6">
                <c:v>P7</c:v>
              </c:pt>
              <c:pt idx="7">
                <c:v>Actual</c:v>
              </c:pt>
            </c:strLit>
          </c:cat>
          <c:val>
            <c:numLit>
              <c:formatCode>#,##0</c:formatCode>
              <c:ptCount val="8"/>
              <c:pt idx="0">
                <c:v>622.105218869854</c:v>
              </c:pt>
              <c:pt idx="1">
                <c:v>-121.10392546492862</c:v>
              </c:pt>
              <c:pt idx="2">
                <c:v>1605.6010943591473</c:v>
              </c:pt>
              <c:pt idx="3">
                <c:v>-790.1436643721271</c:v>
              </c:pt>
              <c:pt idx="4">
                <c:v>1670.1713462011485</c:v>
              </c:pt>
              <c:pt idx="5">
                <c:v>381.5278762515919</c:v>
              </c:pt>
              <c:pt idx="6">
                <c:v>821.3716150003645</c:v>
              </c:pt>
              <c:pt idx="7">
                <c:v>6868.996006081118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4A565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A96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65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00"/>
          <c:min val="-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7C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A96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65A"/>
                </a:solidFill>
              </a:defRPr>
            </a:pPr>
          </a:p>
        </c:txPr>
        <c:crossAx val="48650112"/>
        <c:crossBetween val="between"/>
        <c:majorUnit val="2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Normalized loss</c:v>
          </c:tx>
          <c:spPr>
            <a:solidFill xmlns:a="http://schemas.openxmlformats.org/drawingml/2006/main">
              <a:srgbClr val="64A0C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37222"/>
              </a:solidFill>
            </c:spPr>
          </c:dPt>
          <c:cat>
            <c:strLit>
              <c:ptCount val="8"/>
              <c:pt idx="0">
                <c:v>Strait of Hormuz</c:v>
              </c:pt>
              <c:pt idx="1">
                <c:v>Ombai Strait</c:v>
              </c:pt>
              <c:pt idx="2">
                <c:v>Malacca Strait</c:v>
              </c:pt>
              <c:pt idx="3">
                <c:v>Kerch Strait</c:v>
              </c:pt>
              <c:pt idx="4">
                <c:v>Bohai Strait</c:v>
              </c:pt>
              <c:pt idx="5">
                <c:v>Tsugaru Strait</c:v>
              </c:pt>
              <c:pt idx="6">
                <c:v>Gibraltar Strait</c:v>
              </c:pt>
              <c:pt idx="7">
                <c:v>Torres Strait</c:v>
              </c:pt>
            </c:strLit>
          </c:cat>
          <c:val>
            <c:numLit>
              <c:formatCode>0.0"%"</c:formatCode>
              <c:ptCount val="8"/>
              <c:pt idx="0">
                <c:v>93.08767803475762</c:v>
              </c:pt>
              <c:pt idx="1">
                <c:v>24.695652173913043</c:v>
              </c:pt>
              <c:pt idx="2">
                <c:v>21.022918773171554</c:v>
              </c:pt>
              <c:pt idx="3">
                <c:v>18.67007672634271</c:v>
              </c:pt>
              <c:pt idx="4">
                <c:v>17.935833011209894</c:v>
              </c:pt>
              <c:pt idx="5">
                <c:v>14.388860237235686</c:v>
              </c:pt>
              <c:pt idx="6">
                <c:v>14.19798216113467</c:v>
              </c:pt>
              <c:pt idx="7">
                <c:v>13.880126182965299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4A565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7CB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8A96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65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A565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Observed Hormuz</c:v>
          </c:tx>
          <c:spPr>
            <a:ln xmlns:a="http://schemas.openxmlformats.org/drawingml/2006/main" w="20955">
              <a:solidFill>
                <a:srgbClr val="000000"/>
              </a:solidFill>
              <a:prstDash val="solid"/>
            </a:ln>
          </c:spPr>
          <c:marker>
            <c:symbol val="circle"/>
            <c:size val="3"/>
          </c:marker>
          <c:cat>
            <c:strLit>
              <c:ptCount val="71"/>
              <c:pt idx="0">
                <c:v>2022-01-01</c:v>
              </c:pt>
              <c:pt idx="1">
                <c:v>2022-01-31</c:v>
              </c:pt>
              <c:pt idx="2">
                <c:v>2022-03-02</c:v>
              </c:pt>
              <c:pt idx="3">
                <c:v>2022-04-01</c:v>
              </c:pt>
              <c:pt idx="4">
                <c:v>2022-05-01</c:v>
              </c:pt>
              <c:pt idx="5">
                <c:v>2022-05-31</c:v>
              </c:pt>
              <c:pt idx="6">
                <c:v>2022-06-30</c:v>
              </c:pt>
              <c:pt idx="7">
                <c:v>2022-07-30</c:v>
              </c:pt>
              <c:pt idx="8">
                <c:v>2022-08-29</c:v>
              </c:pt>
              <c:pt idx="9">
                <c:v>2022-09-28</c:v>
              </c:pt>
              <c:pt idx="10">
                <c:v>2022-10-28</c:v>
              </c:pt>
              <c:pt idx="11">
                <c:v>2022-11-27</c:v>
              </c:pt>
              <c:pt idx="12">
                <c:v>2022-12-27</c:v>
              </c:pt>
              <c:pt idx="13">
                <c:v>2023-01-26</c:v>
              </c:pt>
              <c:pt idx="14">
                <c:v>2023-02-25</c:v>
              </c:pt>
              <c:pt idx="15">
                <c:v>2023-03-27</c:v>
              </c:pt>
              <c:pt idx="16">
                <c:v>2023-04-26</c:v>
              </c:pt>
              <c:pt idx="17">
                <c:v>2023-05-26</c:v>
              </c:pt>
              <c:pt idx="18">
                <c:v>2023-06-25</c:v>
              </c:pt>
              <c:pt idx="19">
                <c:v>2023-07-25</c:v>
              </c:pt>
              <c:pt idx="20">
                <c:v>2023-08-24</c:v>
              </c:pt>
              <c:pt idx="21">
                <c:v>2023-09-23</c:v>
              </c:pt>
              <c:pt idx="22">
                <c:v>2023-10-23</c:v>
              </c:pt>
              <c:pt idx="23">
                <c:v>2023-11-22</c:v>
              </c:pt>
              <c:pt idx="24">
                <c:v>2023-12-22</c:v>
              </c:pt>
              <c:pt idx="25">
                <c:v>2024-01-21</c:v>
              </c:pt>
              <c:pt idx="26">
                <c:v>2024-02-20</c:v>
              </c:pt>
              <c:pt idx="27">
                <c:v>2024-03-21</c:v>
              </c:pt>
              <c:pt idx="28">
                <c:v>2024-04-20</c:v>
              </c:pt>
              <c:pt idx="29">
                <c:v>2024-05-20</c:v>
              </c:pt>
              <c:pt idx="30">
                <c:v>2024-06-19</c:v>
              </c:pt>
              <c:pt idx="31">
                <c:v>2024-07-19</c:v>
              </c:pt>
              <c:pt idx="32">
                <c:v>2024-08-18</c:v>
              </c:pt>
              <c:pt idx="33">
                <c:v>2024-09-17</c:v>
              </c:pt>
              <c:pt idx="34">
                <c:v>2024-10-17</c:v>
              </c:pt>
              <c:pt idx="35">
                <c:v>2024-11-16</c:v>
              </c:pt>
              <c:pt idx="36">
                <c:v>2024-12-16</c:v>
              </c:pt>
              <c:pt idx="37">
                <c:v>2025-01-15</c:v>
              </c:pt>
              <c:pt idx="38">
                <c:v>2025-02-14</c:v>
              </c:pt>
              <c:pt idx="39">
                <c:v>2025-03-16</c:v>
              </c:pt>
              <c:pt idx="40">
                <c:v>2025-04-15</c:v>
              </c:pt>
              <c:pt idx="41">
                <c:v>2025-05-15</c:v>
              </c:pt>
              <c:pt idx="42">
                <c:v>2025-06-14</c:v>
              </c:pt>
              <c:pt idx="43">
                <c:v>2025-07-14</c:v>
              </c:pt>
              <c:pt idx="44">
                <c:v>2025-08-13</c:v>
              </c:pt>
              <c:pt idx="45">
                <c:v>2025-09-12</c:v>
              </c:pt>
              <c:pt idx="46">
                <c:v>2025-10-12</c:v>
              </c:pt>
              <c:pt idx="47">
                <c:v>2025-11-11</c:v>
              </c:pt>
              <c:pt idx="48">
                <c:v>2025-12-11</c:v>
              </c:pt>
              <c:pt idx="49">
                <c:v>2026-01-10</c:v>
              </c:pt>
              <c:pt idx="50">
                <c:v>2026-02-09</c:v>
              </c:pt>
              <c:pt idx="51">
                <c:v>2026-02-28</c:v>
              </c:pt>
              <c:pt idx="52">
                <c:v>2026-03-07</c:v>
              </c:pt>
              <c:pt idx="53">
                <c:v>2026-03-14</c:v>
              </c:pt>
              <c:pt idx="54">
                <c:v>2026-03-21</c:v>
              </c:pt>
              <c:pt idx="55">
                <c:v>2026-03-28</c:v>
              </c:pt>
              <c:pt idx="56">
                <c:v>2026-04-04</c:v>
              </c:pt>
              <c:pt idx="57">
                <c:v>2026-04-11</c:v>
              </c:pt>
              <c:pt idx="58">
                <c:v>2026-04-18</c:v>
              </c:pt>
              <c:pt idx="59">
                <c:v>2026-04-25</c:v>
              </c:pt>
              <c:pt idx="60">
                <c:v>2026-05-02</c:v>
              </c:pt>
              <c:pt idx="61">
                <c:v>2026-05-09</c:v>
              </c:pt>
              <c:pt idx="62">
                <c:v>2026-05-16</c:v>
              </c:pt>
              <c:pt idx="63">
                <c:v>2026-05-23</c:v>
              </c:pt>
              <c:pt idx="64">
                <c:v>2026-05-30</c:v>
              </c:pt>
              <c:pt idx="65">
                <c:v>2026-06-06</c:v>
              </c:pt>
              <c:pt idx="66">
                <c:v>2026-06-13</c:v>
              </c:pt>
              <c:pt idx="67">
                <c:v>2026-06-20</c:v>
              </c:pt>
              <c:pt idx="68">
                <c:v>2026-06-27</c:v>
              </c:pt>
              <c:pt idx="69">
                <c:v>2026-07-04</c:v>
              </c:pt>
              <c:pt idx="70">
                <c:v>2026-07-07</c:v>
              </c:pt>
            </c:strLit>
          </c:cat>
          <c:val>
            <c:numLit>
              <c:formatCode>General</c:formatCode>
              <c:ptCount val="71"/>
              <c:pt idx="0">
                <c:v>0.805696166042087</c:v>
              </c:pt>
              <c:pt idx="1">
                <c:v>1.0158777745748053</c:v>
              </c:pt>
              <c:pt idx="2">
                <c:v>1.1910291150187373</c:v>
              </c:pt>
              <c:pt idx="3">
                <c:v>1.5413317959066013</c:v>
              </c:pt>
              <c:pt idx="4">
                <c:v>1.1735139809743442</c:v>
              </c:pt>
              <c:pt idx="5">
                <c:v>1.3136350533294898</c:v>
              </c:pt>
              <c:pt idx="6">
                <c:v>1.4712712597290285</c:v>
              </c:pt>
              <c:pt idx="7">
                <c:v>1.3136350533294898</c:v>
              </c:pt>
              <c:pt idx="8">
                <c:v>0.7706658979533006</c:v>
              </c:pt>
              <c:pt idx="9">
                <c:v>0.9633323724416258</c:v>
              </c:pt>
              <c:pt idx="10">
                <c:v>1.5413317959066013</c:v>
              </c:pt>
              <c:pt idx="11">
                <c:v>1.155998846929951</c:v>
              </c:pt>
              <c:pt idx="12">
                <c:v>0.6830902277313347</c:v>
              </c:pt>
              <c:pt idx="13">
                <c:v>1.0509080426635917</c:v>
              </c:pt>
              <c:pt idx="14">
                <c:v>1.0859383107523781</c:v>
              </c:pt>
              <c:pt idx="15">
                <c:v>0.7531507639089075</c:v>
              </c:pt>
              <c:pt idx="16">
                <c:v>0.9107869703084462</c:v>
              </c:pt>
              <c:pt idx="17">
                <c:v>1.2085442490631306</c:v>
              </c:pt>
              <c:pt idx="18">
                <c:v>0.9633323724416258</c:v>
              </c:pt>
              <c:pt idx="19">
                <c:v>0.8757567022196598</c:v>
              </c:pt>
              <c:pt idx="20">
                <c:v>0.5079388872874027</c:v>
              </c:pt>
              <c:pt idx="21">
                <c:v>0.893271836264053</c:v>
              </c:pt>
              <c:pt idx="22">
                <c:v>0.9983626405304122</c:v>
              </c:pt>
              <c:pt idx="23">
                <c:v>0.7531507639089075</c:v>
              </c:pt>
              <c:pt idx="24">
                <c:v>0.6130296915537619</c:v>
              </c:pt>
              <c:pt idx="25">
                <c:v>0.980847506486019</c:v>
              </c:pt>
              <c:pt idx="26">
                <c:v>0.7356356298645143</c:v>
              </c:pt>
              <c:pt idx="27">
                <c:v>1.0859383107523781</c:v>
              </c:pt>
              <c:pt idx="28">
                <c:v>1.331150187373883</c:v>
              </c:pt>
              <c:pt idx="29">
                <c:v>0.8582415681752666</c:v>
              </c:pt>
              <c:pt idx="30">
                <c:v>1.418725857595849</c:v>
              </c:pt>
              <c:pt idx="31">
                <c:v>1.0859383107523781</c:v>
              </c:pt>
              <c:pt idx="32">
                <c:v>0.7881810319976938</c:v>
              </c:pt>
              <c:pt idx="33">
                <c:v>0.805696166042087</c:v>
              </c:pt>
              <c:pt idx="34">
                <c:v>0.980847506486019</c:v>
              </c:pt>
              <c:pt idx="35">
                <c:v>0.5604842894205823</c:v>
              </c:pt>
              <c:pt idx="36">
                <c:v>0.8582415681752666</c:v>
              </c:pt>
              <c:pt idx="37">
                <c:v>0.6480599596425483</c:v>
              </c:pt>
              <c:pt idx="38">
                <c:v>0.980847506486019</c:v>
              </c:pt>
              <c:pt idx="39">
                <c:v>1.243574517151917</c:v>
              </c:pt>
              <c:pt idx="40">
                <c:v>0.5604842894205823</c:v>
              </c:pt>
              <c:pt idx="41">
                <c:v>0.9107869703084462</c:v>
              </c:pt>
              <c:pt idx="42">
                <c:v>0.980847506486019</c:v>
              </c:pt>
              <c:pt idx="43">
                <c:v>1.1034534447967714</c:v>
              </c:pt>
              <c:pt idx="44">
                <c:v>0.893271836264053</c:v>
              </c:pt>
              <c:pt idx="45">
                <c:v>0.7531507639089075</c:v>
              </c:pt>
              <c:pt idx="46">
                <c:v>0.5604842894205823</c:v>
              </c:pt>
              <c:pt idx="47">
                <c:v>1.0509080426635917</c:v>
              </c:pt>
              <c:pt idx="48">
                <c:v>0.6305448255981551</c:v>
              </c:pt>
              <c:pt idx="49">
                <c:v>0.7006053617757279</c:v>
              </c:pt>
              <c:pt idx="50">
                <c:v>0.6655750936869415</c:v>
              </c:pt>
              <c:pt idx="51">
                <c:v>0.6130296915537619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0.017515134044393196</c:v>
              </c:pt>
              <c:pt idx="56">
                <c:v>0.07006053617757278</c:v>
              </c:pt>
              <c:pt idx="57">
                <c:v>0.07006053617757278</c:v>
              </c:pt>
              <c:pt idx="58">
                <c:v>0.24521187662150476</c:v>
              </c:pt>
              <c:pt idx="59">
                <c:v>0.03503026808878639</c:v>
              </c:pt>
              <c:pt idx="60">
                <c:v>0.08757567022196598</c:v>
              </c:pt>
              <c:pt idx="61">
                <c:v>0.03503026808878639</c:v>
              </c:pt>
              <c:pt idx="62">
                <c:v>0.03503026808878639</c:v>
              </c:pt>
              <c:pt idx="63">
                <c:v>0.017515134044393196</c:v>
              </c:pt>
              <c:pt idx="64">
                <c:v>0.017515134044393196</c:v>
              </c:pt>
              <c:pt idx="65">
                <c:v>0</c:v>
              </c:pt>
              <c:pt idx="66">
                <c:v>0</c:v>
              </c:pt>
              <c:pt idx="67">
                <c:v>0.21018160853271836</c:v>
              </c:pt>
              <c:pt idx="68">
                <c:v>0.15763620639953876</c:v>
              </c:pt>
              <c:pt idx="69">
                <c:v>0.19266647448832516</c:v>
              </c:pt>
              <c:pt idx="70">
                <c:v>0.21018160853271836</c:v>
              </c:pt>
            </c:numLit>
          </c:val>
        </c:ser>
        <c:ser>
          <c:idx val="1"/>
          <c:order val="1"/>
          <c:tx>
            <c:v>Synthetic control</c:v>
          </c:tx>
          <c:spPr>
            <a:ln xmlns:a="http://schemas.openxmlformats.org/drawingml/2006/main" w="28575">
              <a:solidFill>
                <a:srgbClr val="0065BD"/>
              </a:solidFill>
              <a:prstDash val="solid"/>
            </a:ln>
          </c:spPr>
          <c:marker>
            <c:symbol val="none"/>
          </c:marker>
          <c:cat>
            <c:strLit>
              <c:ptCount val="71"/>
              <c:pt idx="0">
                <c:v>2022-01-01</c:v>
              </c:pt>
              <c:pt idx="1">
                <c:v>2022-01-31</c:v>
              </c:pt>
              <c:pt idx="2">
                <c:v>2022-03-02</c:v>
              </c:pt>
              <c:pt idx="3">
                <c:v>2022-04-01</c:v>
              </c:pt>
              <c:pt idx="4">
                <c:v>2022-05-01</c:v>
              </c:pt>
              <c:pt idx="5">
                <c:v>2022-05-31</c:v>
              </c:pt>
              <c:pt idx="6">
                <c:v>2022-06-30</c:v>
              </c:pt>
              <c:pt idx="7">
                <c:v>2022-07-30</c:v>
              </c:pt>
              <c:pt idx="8">
                <c:v>2022-08-29</c:v>
              </c:pt>
              <c:pt idx="9">
                <c:v>2022-09-28</c:v>
              </c:pt>
              <c:pt idx="10">
                <c:v>2022-10-28</c:v>
              </c:pt>
              <c:pt idx="11">
                <c:v>2022-11-27</c:v>
              </c:pt>
              <c:pt idx="12">
                <c:v>2022-12-27</c:v>
              </c:pt>
              <c:pt idx="13">
                <c:v>2023-01-26</c:v>
              </c:pt>
              <c:pt idx="14">
                <c:v>2023-02-25</c:v>
              </c:pt>
              <c:pt idx="15">
                <c:v>2023-03-27</c:v>
              </c:pt>
              <c:pt idx="16">
                <c:v>2023-04-26</c:v>
              </c:pt>
              <c:pt idx="17">
                <c:v>2023-05-26</c:v>
              </c:pt>
              <c:pt idx="18">
                <c:v>2023-06-25</c:v>
              </c:pt>
              <c:pt idx="19">
                <c:v>2023-07-25</c:v>
              </c:pt>
              <c:pt idx="20">
                <c:v>2023-08-24</c:v>
              </c:pt>
              <c:pt idx="21">
                <c:v>2023-09-23</c:v>
              </c:pt>
              <c:pt idx="22">
                <c:v>2023-10-23</c:v>
              </c:pt>
              <c:pt idx="23">
                <c:v>2023-11-22</c:v>
              </c:pt>
              <c:pt idx="24">
                <c:v>2023-12-22</c:v>
              </c:pt>
              <c:pt idx="25">
                <c:v>2024-01-21</c:v>
              </c:pt>
              <c:pt idx="26">
                <c:v>2024-02-20</c:v>
              </c:pt>
              <c:pt idx="27">
                <c:v>2024-03-21</c:v>
              </c:pt>
              <c:pt idx="28">
                <c:v>2024-04-20</c:v>
              </c:pt>
              <c:pt idx="29">
                <c:v>2024-05-20</c:v>
              </c:pt>
              <c:pt idx="30">
                <c:v>2024-06-19</c:v>
              </c:pt>
              <c:pt idx="31">
                <c:v>2024-07-19</c:v>
              </c:pt>
              <c:pt idx="32">
                <c:v>2024-08-18</c:v>
              </c:pt>
              <c:pt idx="33">
                <c:v>2024-09-17</c:v>
              </c:pt>
              <c:pt idx="34">
                <c:v>2024-10-17</c:v>
              </c:pt>
              <c:pt idx="35">
                <c:v>2024-11-16</c:v>
              </c:pt>
              <c:pt idx="36">
                <c:v>2024-12-16</c:v>
              </c:pt>
              <c:pt idx="37">
                <c:v>2025-01-15</c:v>
              </c:pt>
              <c:pt idx="38">
                <c:v>2025-02-14</c:v>
              </c:pt>
              <c:pt idx="39">
                <c:v>2025-03-16</c:v>
              </c:pt>
              <c:pt idx="40">
                <c:v>2025-04-15</c:v>
              </c:pt>
              <c:pt idx="41">
                <c:v>2025-05-15</c:v>
              </c:pt>
              <c:pt idx="42">
                <c:v>2025-06-14</c:v>
              </c:pt>
              <c:pt idx="43">
                <c:v>2025-07-14</c:v>
              </c:pt>
              <c:pt idx="44">
                <c:v>2025-08-13</c:v>
              </c:pt>
              <c:pt idx="45">
                <c:v>2025-09-12</c:v>
              </c:pt>
              <c:pt idx="46">
                <c:v>2025-10-12</c:v>
              </c:pt>
              <c:pt idx="47">
                <c:v>2025-11-11</c:v>
              </c:pt>
              <c:pt idx="48">
                <c:v>2025-12-11</c:v>
              </c:pt>
              <c:pt idx="49">
                <c:v>2026-01-10</c:v>
              </c:pt>
              <c:pt idx="50">
                <c:v>2026-02-09</c:v>
              </c:pt>
              <c:pt idx="51">
                <c:v>2026-02-28</c:v>
              </c:pt>
              <c:pt idx="52">
                <c:v>2026-03-07</c:v>
              </c:pt>
              <c:pt idx="53">
                <c:v>2026-03-14</c:v>
              </c:pt>
              <c:pt idx="54">
                <c:v>2026-03-21</c:v>
              </c:pt>
              <c:pt idx="55">
                <c:v>2026-03-28</c:v>
              </c:pt>
              <c:pt idx="56">
                <c:v>2026-04-04</c:v>
              </c:pt>
              <c:pt idx="57">
                <c:v>2026-04-11</c:v>
              </c:pt>
              <c:pt idx="58">
                <c:v>2026-04-18</c:v>
              </c:pt>
              <c:pt idx="59">
                <c:v>2026-04-25</c:v>
              </c:pt>
              <c:pt idx="60">
                <c:v>2026-05-02</c:v>
              </c:pt>
              <c:pt idx="61">
                <c:v>2026-05-09</c:v>
              </c:pt>
              <c:pt idx="62">
                <c:v>2026-05-16</c:v>
              </c:pt>
              <c:pt idx="63">
                <c:v>2026-05-23</c:v>
              </c:pt>
              <c:pt idx="64">
                <c:v>2026-05-30</c:v>
              </c:pt>
              <c:pt idx="65">
                <c:v>2026-06-06</c:v>
              </c:pt>
              <c:pt idx="66">
                <c:v>2026-06-13</c:v>
              </c:pt>
              <c:pt idx="67">
                <c:v>2026-06-20</c:v>
              </c:pt>
              <c:pt idx="68">
                <c:v>2026-06-27</c:v>
              </c:pt>
              <c:pt idx="69">
                <c:v>2026-07-04</c:v>
              </c:pt>
              <c:pt idx="70">
                <c:v>2026-07-07</c:v>
              </c:pt>
            </c:strLit>
          </c:cat>
          <c:val>
            <c:numLit>
              <c:formatCode>General</c:formatCode>
              <c:ptCount val="71"/>
              <c:pt idx="0">
                <c:v>1.123122555130739</c:v>
              </c:pt>
              <c:pt idx="1">
                <c:v>0.9445745067447868</c:v>
              </c:pt>
              <c:pt idx="2">
                <c:v>1.0038708114303616</c:v>
              </c:pt>
              <c:pt idx="3">
                <c:v>1.0027976184140985</c:v>
              </c:pt>
              <c:pt idx="4">
                <c:v>1.0331568820660713</c:v>
              </c:pt>
              <c:pt idx="5">
                <c:v>0.9510513212888135</c:v>
              </c:pt>
              <c:pt idx="6">
                <c:v>0.9462456963740526</c:v>
              </c:pt>
              <c:pt idx="7">
                <c:v>1.111412683592644</c:v>
              </c:pt>
              <c:pt idx="8">
                <c:v>0.9901769416767208</c:v>
              </c:pt>
              <c:pt idx="9">
                <c:v>1.022589587920345</c:v>
              </c:pt>
              <c:pt idx="10">
                <c:v>1.1533610457327106</c:v>
              </c:pt>
              <c:pt idx="11">
                <c:v>1.0153967853102799</c:v>
              </c:pt>
              <c:pt idx="12">
                <c:v>1.009011197432076</c:v>
              </c:pt>
              <c:pt idx="13">
                <c:v>1.0154679400202657</c:v>
              </c:pt>
              <c:pt idx="14">
                <c:v>0.9389483949095719</c:v>
              </c:pt>
              <c:pt idx="15">
                <c:v>1.099179839524099</c:v>
              </c:pt>
              <c:pt idx="16">
                <c:v>1.119953276388219</c:v>
              </c:pt>
              <c:pt idx="17">
                <c:v>1.0552723070355083</c:v>
              </c:pt>
              <c:pt idx="18">
                <c:v>1.0217228694853866</c:v>
              </c:pt>
              <c:pt idx="19">
                <c:v>0.9478671683049988</c:v>
              </c:pt>
              <c:pt idx="20">
                <c:v>0.8903730429140395</c:v>
              </c:pt>
              <c:pt idx="21">
                <c:v>1.0250387406124009</c:v>
              </c:pt>
              <c:pt idx="22">
                <c:v>0.9572133992145551</c:v>
              </c:pt>
              <c:pt idx="23">
                <c:v>1.0253766329667833</c:v>
              </c:pt>
              <c:pt idx="24">
                <c:v>0.8597156119825491</c:v>
              </c:pt>
              <c:pt idx="25">
                <c:v>0.9894958824807972</c:v>
              </c:pt>
              <c:pt idx="26">
                <c:v>0.883358527154492</c:v>
              </c:pt>
              <c:pt idx="27">
                <c:v>1.02286830406542</c:v>
              </c:pt>
              <c:pt idx="28">
                <c:v>1.1377824579315392</c:v>
              </c:pt>
              <c:pt idx="29">
                <c:v>0.9749348726510992</c:v>
              </c:pt>
              <c:pt idx="30">
                <c:v>1.005356543845009</c:v>
              </c:pt>
              <c:pt idx="31">
                <c:v>1.086412375039068</c:v>
              </c:pt>
              <c:pt idx="32">
                <c:v>0.8298668865188285</c:v>
              </c:pt>
              <c:pt idx="33">
                <c:v>1.0260759791390495</c:v>
              </c:pt>
              <c:pt idx="34">
                <c:v>1.0715030798936949</c:v>
              </c:pt>
              <c:pt idx="35">
                <c:v>1.0569494465467082</c:v>
              </c:pt>
              <c:pt idx="36">
                <c:v>1.0160684100422677</c:v>
              </c:pt>
              <c:pt idx="37">
                <c:v>0.9353342289778599</c:v>
              </c:pt>
              <c:pt idx="38">
                <c:v>1.0330929647970675</c:v>
              </c:pt>
              <c:pt idx="39">
                <c:v>0.953591101213935</c:v>
              </c:pt>
              <c:pt idx="40">
                <c:v>1.0449526784190748</c:v>
              </c:pt>
              <c:pt idx="41">
                <c:v>0.9763844173928297</c:v>
              </c:pt>
              <c:pt idx="42">
                <c:v>0.9712438755125373</c:v>
              </c:pt>
              <c:pt idx="43">
                <c:v>1.060345783827605</c:v>
              </c:pt>
              <c:pt idx="44">
                <c:v>0.7359538114930567</c:v>
              </c:pt>
              <c:pt idx="45">
                <c:v>0.9572355027215907</c:v>
              </c:pt>
              <c:pt idx="46">
                <c:v>0.9178402759847789</c:v>
              </c:pt>
              <c:pt idx="47">
                <c:v>0.7511721314448262</c:v>
              </c:pt>
              <c:pt idx="48">
                <c:v>0.7580125495980499</c:v>
              </c:pt>
              <c:pt idx="49">
                <c:v>0.7251884200460712</c:v>
              </c:pt>
              <c:pt idx="50">
                <c:v>0.9311108602950724</c:v>
              </c:pt>
              <c:pt idx="51">
                <c:v>0.8809297402181067</c:v>
              </c:pt>
              <c:pt idx="52">
                <c:v>0.8294827471850124</c:v>
              </c:pt>
              <c:pt idx="53">
                <c:v>0.9659860204247414</c:v>
              </c:pt>
              <c:pt idx="54">
                <c:v>0.9329347179396175</c:v>
              </c:pt>
              <c:pt idx="55">
                <c:v>0.9366916647320207</c:v>
              </c:pt>
              <c:pt idx="56">
                <c:v>0.850033010753136</c:v>
              </c:pt>
              <c:pt idx="57">
                <c:v>0.8129429350647601</c:v>
              </c:pt>
              <c:pt idx="58">
                <c:v>0.7860667967700666</c:v>
              </c:pt>
              <c:pt idx="59">
                <c:v>0.9002997860944313</c:v>
              </c:pt>
              <c:pt idx="60">
                <c:v>0.9251377372401651</c:v>
              </c:pt>
              <c:pt idx="61">
                <c:v>0.8507618952421458</c:v>
              </c:pt>
              <c:pt idx="62">
                <c:v>1.0910534573634476</c:v>
              </c:pt>
              <c:pt idx="63">
                <c:v>0.9767225914000577</c:v>
              </c:pt>
              <c:pt idx="64">
                <c:v>0.9112916841786207</c:v>
              </c:pt>
              <c:pt idx="65">
                <c:v>0.8658050642265974</c:v>
              </c:pt>
              <c:pt idx="66">
                <c:v>0.9490253235390904</c:v>
              </c:pt>
              <c:pt idx="67">
                <c:v>0.8773180008637752</c:v>
              </c:pt>
              <c:pt idx="68">
                <c:v>0.8842816756480537</c:v>
              </c:pt>
              <c:pt idx="69">
                <c:v>1.0655303892397106</c:v>
              </c:pt>
              <c:pt idx="70">
                <c:v>0.8591636736640287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8A96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65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7C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4A565A"/>
                    </a:solidFill>
                  </a:rPr>
                  <a:t>Mean-scaled throughput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4A565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A96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65A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4A565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Pre/post change</c:v>
          </c:tx>
          <c:spPr>
            <a:solidFill xmlns:a="http://schemas.openxmlformats.org/drawingml/2006/main">
              <a:srgbClr val="E37222"/>
            </a:solidFill>
          </c:spPr>
          <c:invertIfNegative val="0"/>
          <c:dPt>
            <c:idx val="4"/>
            <c:invertIfNegative val="0"/>
            <c:spPr>
              <a:solidFill xmlns:a="http://schemas.openxmlformats.org/drawingml/2006/main">
                <a:srgbClr val="A2AD00"/>
              </a:solidFill>
            </c:spPr>
          </c:dPt>
          <c:cat>
            <c:strLit>
              <c:ptCount val="5"/>
              <c:pt idx="0">
                <c:v>WTO outbound index</c:v>
              </c:pt>
              <c:pt idx="1">
                <c:v>Inferred Gulf departure calls</c:v>
              </c:pt>
              <c:pt idx="2">
                <c:v>Expanded capacity-distance</c:v>
              </c:pt>
              <c:pt idx="3">
                <c:v>Expanded vessel-days</c:v>
              </c:pt>
              <c:pt idx="4">
                <c:v>Retained-voyage mean</c:v>
              </c:pt>
            </c:strLit>
          </c:cat>
          <c:val>
            <c:numLit>
              <c:formatCode>0.0"%"</c:formatCode>
              <c:ptCount val="5"/>
              <c:pt idx="0">
                <c:v>-98.286</c:v>
              </c:pt>
              <c:pt idx="1">
                <c:v>-92.982</c:v>
              </c:pt>
              <c:pt idx="2">
                <c:v>-15.608</c:v>
              </c:pt>
              <c:pt idx="3">
                <c:v>-17.183</c:v>
              </c:pt>
              <c:pt idx="4">
                <c:v>10.198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4A565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7CB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8A96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65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65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CC0B37DA-7790-49DB-B2CA-0A55D8D8E3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7369" y="2138363"/>
            <a:ext cx="4840319" cy="2593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629"/>
                </a:solidFill>
              </a:defRPr>
            </a:pPr>
            <a:r>
              <a:rPr sz="1200">
                <a:solidFill>
                  <a:srgbClr val="202629"/>
                </a:solidFill>
              </a:rPr>
              <a:t>Forecasting and synthetic-control evidence from the 2026 episode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202629"/>
                </a:solidFill>
              </a:defRPr>
            </a:pPr>
            <a:r>
              <a:rPr sz="1200">
                <a:solidFill>
                  <a:srgbClr val="202629"/>
                </a:solidFill>
              </a:rPr>
              <a:t>Mher Avetisyan · mher.avetisyan@tum.de</a:t>
            </a:r>
          </a:p>
          <a:p xmlns:a="http://schemas.openxmlformats.org/drawingml/2006/main">
            <a:pPr>
              <a:defRPr sz="1200">
                <a:solidFill>
                  <a:srgbClr val="202629"/>
                </a:solidFill>
              </a:defRPr>
            </a:pPr>
            <a:r>
              <a:rPr sz="1200">
                <a:solidFill>
                  <a:srgbClr val="202629"/>
                </a:solidFill>
              </a:rPr>
              <a:t>Bachelor Thesis · Transportation Analytics</a:t>
            </a:r>
          </a:p>
          <a:p xmlns:a="http://schemas.openxmlformats.org/drawingml/2006/main">
            <a:pPr>
              <a:defRPr sz="1200">
                <a:solidFill>
                  <a:srgbClr val="202629"/>
                </a:solidFill>
              </a:defRPr>
            </a:pPr>
            <a:r>
              <a:rPr sz="1200">
                <a:solidFill>
                  <a:srgbClr val="202629"/>
                </a:solidFill>
              </a:rPr>
              <a:t>Supervisor review · July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202629"/>
                </a:solidFill>
              </a:defRPr>
            </a:pPr>
            <a:r>
              <a:rPr sz="1200">
                <a:solidFill>
                  <a:srgbClr val="202629"/>
                </a:solidFill>
              </a:rPr>
              <a:t>Block inference + corroboration · 293 tests passing</a:t>
            </a:r>
          </a:p>
          <a:p xmlns:a="http://schemas.openxmlformats.org/drawingml/2006/main">
            <a:pPr>
              <a:defRPr sz="1200">
                <a:solidFill>
                  <a:srgbClr val="202629"/>
                </a:solidFill>
              </a:defRPr>
            </a:pPr>
            <a:r>
              <a:rPr sz="1200">
                <a:solidFill>
                  <a:srgbClr val="202629"/>
                </a:solidFill>
              </a:rPr>
              <a:t>Frozen inputs + artifacts verified · Free, immutable open data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A276620-4389-CD87-48C1-A2B4860AF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369" y="1023938"/>
            <a:ext cx="8569357" cy="8583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3359"/>
                </a:solidFill>
              </a:defRPr>
            </a:pPr>
            <a:r>
              <a:rPr sz="2625" b="0">
                <a:solidFill>
                  <a:srgbClr val="003359"/>
                </a:solidFill>
              </a:rPr>
              <a:t>Counterfactual Estimation of</a:t>
            </a:r>
          </a:p>
          <a:p xmlns:a="http://schemas.openxmlformats.org/drawingml/2006/main">
            <a:pPr>
              <a:defRPr sz="2625" b="0">
                <a:solidFill>
                  <a:srgbClr val="003359"/>
                </a:solidFill>
              </a:defRPr>
            </a:pPr>
            <a:r>
              <a:rPr sz="2625" b="0">
                <a:solidFill>
                  <a:srgbClr val="003359"/>
                </a:solidFill>
              </a:rPr>
              <a:t>Tanker-Throughput Disruption</a:t>
            </a:r>
          </a:p>
          <a:p xmlns:a="http://schemas.openxmlformats.org/drawingml/2006/main">
            <a:pPr>
              <a:defRPr sz="2625" b="0">
                <a:solidFill>
                  <a:srgbClr val="003359"/>
                </a:solidFill>
              </a:defRPr>
            </a:pPr>
            <a:r>
              <a:rPr sz="2625" b="0">
                <a:solidFill>
                  <a:srgbClr val="003359"/>
                </a:solidFill>
              </a:rPr>
              <a:t>at the Strait of Hormuz</a:t>
            </a:r>
          </a:p>
        </p:txBody>
      </p:sp>
    </p:spTree>
    <p:extLst>
      <p:ext uri="{BB962C8B-B14F-4D97-AF65-F5344CB8AC3E}">
        <p14:creationId xmlns:p14="http://schemas.microsoft.com/office/powerpoint/2010/main" val="16927272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A846AC2-B82E-EF77-BF3F-9B488CE46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369" y="288036"/>
            <a:ext cx="7331869" cy="3240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3359"/>
                </a:solidFill>
              </a:defRPr>
            </a:pPr>
            <a:r>
              <a:rPr sz="2400" b="0">
                <a:solidFill>
                  <a:srgbClr val="003359"/>
                </a:solidFill>
              </a:rPr>
              <a:t>Research question &amp; estimand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DFB3DA2-D596-7601-C3F8-D544AD03CCA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6774942" y="4854988"/>
            <a:ext cx="2081689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A565A"/>
                </a:solidFill>
              </a:defRPr>
            </a:pPr>
            <a:fld id="{E2598689-54C9-18A7-3A19-ED76AA08988F}" type="slidenum">
              <a:rPr sz="900">
                <a:solidFill>
                  <a:srgbClr val="4A565A"/>
                </a:solidFill>
              </a:rPr>
              <a:t>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E5C0A7-6648-6C80-6D1B-AC4A0419E94C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xfrm xmlns:a="http://schemas.openxmlformats.org/drawingml/2006/main">
            <a:off x="287369" y="4854988"/>
            <a:ext cx="6488144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TUM | Bachelor Thesis · Transportation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75E8B-41A7-418F-8A61-DBF2281C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287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202629"/>
                </a:solidFill>
              </a:defRPr>
            </a:pPr>
            <a:r>
              <a:rPr sz="1275" i="1">
                <a:solidFill>
                  <a:srgbClr val="202629"/>
                </a:solidFill>
              </a:rPr>
              <a:t>How large and persistent was the disruption-associated shortfall in observable daily tanker throughput through the Strait of Hormuz, relative to a counterfactual path estimated exclusively from pre-disruption data?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4188E-935D-4ADF-A38B-D2619CE1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573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5293"/>
                </a:solidFill>
              </a:defRPr>
            </a:pPr>
            <a:r>
              <a:rPr sz="975" b="1">
                <a:solidFill>
                  <a:srgbClr val="005293"/>
                </a:solidFill>
              </a:rPr>
              <a:t>Primary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86A5F-8885-4D32-93FC-1E640021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57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Daily tanker transit count (IMF PortWatch n_tanker)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1825F-A7BC-490D-BA09-72F938A8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383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solidFill>
              <a:srgbClr val="DAD7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E33A0-BC01-4C18-9E64-A8AFAE30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812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5293"/>
                </a:solidFill>
              </a:defRPr>
            </a:pPr>
            <a:r>
              <a:rPr sz="975" b="1">
                <a:solidFill>
                  <a:srgbClr val="005293"/>
                </a:solidFill>
              </a:rPr>
              <a:t>Robustness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4E31F-0937-4500-A01D-B338D229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Daily deadweight capacity of transiting tankers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9E7CB-4977-41D0-A013-54EDC0B5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622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solidFill>
              <a:srgbClr val="DAD7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54C0B-0822-413A-B70F-D7243F8E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051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5293"/>
                </a:solidFill>
              </a:defRPr>
            </a:pPr>
            <a:r>
              <a:rPr sz="975" b="1">
                <a:solidFill>
                  <a:srgbClr val="005293"/>
                </a:solidFill>
              </a:rPr>
              <a:t>Estimand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B49A2-A61C-44BC-B5BA-A5937A51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051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Cumulative and mean-daily observed-minus-counterfactual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63180-53CF-428D-BF4F-68E3A4A4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861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solidFill>
              <a:srgbClr val="DAD7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21F1B-B58A-4D22-BF64-138E94A3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29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5293"/>
                </a:solidFill>
              </a:defRPr>
            </a:pPr>
            <a:r>
              <a:rPr sz="975" b="1">
                <a:solidFill>
                  <a:srgbClr val="005293"/>
                </a:solidFill>
              </a:rPr>
              <a:t>Reporting language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29E49-8D9B-48E4-90C5-574628AD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Disruption-associated counterfactual shortfall — not a causal ATT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A5C96-8211-4535-B0D8-CE741AB0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solidFill>
              <a:srgbClr val="DAD7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B64B4-3D4B-4251-8636-C4C99CDF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28700"/>
            <a:ext cx="2667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64A0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D0F2B-C021-4C74-B77E-48F8A79C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192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5293"/>
                </a:solidFill>
              </a:defRPr>
            </a:pPr>
            <a:r>
              <a:rPr sz="900" b="1">
                <a:solidFill>
                  <a:srgbClr val="005293"/>
                </a:solidFill>
              </a:rPr>
              <a:t>WHY THROUGHPUT, NOT FREIGHT RATES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AC1DE-4203-4EC2-8209-42FFE056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2238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Bloomberg / Spark LNG freight access is unconfirmed.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The committed fallback is a free, fully reproducible throughput dependent variable.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An LNG freight-rate outcome remains additive upside if access arrives.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E870C1-E914-4BD0-9321-CBEF7B65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222"/>
          </a:solidFill>
          <a:ln xmlns:a="http://schemas.openxmlformats.org/drawingml/2006/main" w="0">
            <a:solidFill>
              <a:srgbClr val="E3722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E9C5E-F0FB-45D0-90B5-ED5EE6E0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7222"/>
                </a:solidFill>
              </a:defRPr>
            </a:pPr>
            <a:r>
              <a:rPr sz="975" b="1">
                <a:solidFill>
                  <a:srgbClr val="E37222"/>
                </a:solidFill>
              </a:rPr>
              <a:t>Estimand realignment is drafted and remains pending direct Prof. Li sign-off.</a:t>
            </a:r>
          </a:p>
        </p:txBody>
      </p:sp>
    </p:spTree>
    <p:extLst>
      <p:ext uri="{BB962C8B-B14F-4D97-AF65-F5344CB8AC3E}">
        <p14:creationId xmlns:p14="http://schemas.microsoft.com/office/powerpoint/2010/main" val="18939952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A846AC2-B82E-EF77-BF3F-9B488CE46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369" y="288036"/>
            <a:ext cx="7331869" cy="3240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3359"/>
                </a:solidFill>
              </a:defRPr>
            </a:pPr>
            <a:r>
              <a:rPr sz="2400" b="0">
                <a:solidFill>
                  <a:srgbClr val="003359"/>
                </a:solidFill>
              </a:rPr>
              <a:t>Where the project stands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DFB3DA2-D596-7601-C3F8-D544AD03CCA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6774942" y="4854988"/>
            <a:ext cx="2081689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A565A"/>
                </a:solidFill>
              </a:defRPr>
            </a:pPr>
            <a:fld id="{202359C0-8A7A-196E-DD58-8E6569619F09}" type="slidenum">
              <a:rPr sz="900">
                <a:solidFill>
                  <a:srgbClr val="4A565A"/>
                </a:solidFill>
              </a:rPr>
              <a:t>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E5C0A7-6648-6C80-6D1B-AC4A0419E94C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xfrm xmlns:a="http://schemas.openxmlformats.org/drawingml/2006/main">
            <a:off x="287369" y="4854988"/>
            <a:ext cx="6488144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TUM | Bachelor Thesis · Transportation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098DE-AFA0-44F3-A5D8-C0A7FCBA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3667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D8"/>
          </a:solidFill>
          <a:ln xmlns:a="http://schemas.openxmlformats.org/drawingml/2006/main" w="13335">
            <a:solidFill>
              <a:srgbClr val="A2AD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75EBD-C704-4907-9271-BD47CE32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F7900"/>
                </a:solidFill>
              </a:defRPr>
            </a:pPr>
            <a:r>
              <a:rPr sz="2025" b="1">
                <a:solidFill>
                  <a:srgbClr val="6F7900"/>
                </a:solidFill>
              </a:rPr>
              <a:t>85%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818A3-C0E9-4E55-9107-E52CB748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438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Committed fallback thesis · throughput shortfall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F3166-E58D-45BB-8B23-196CE265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028700"/>
            <a:ext cx="3667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13335">
            <a:solidFill>
              <a:srgbClr val="E372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B5AFD-C5C6-4910-AD54-47EC04E5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123950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37222"/>
                </a:solidFill>
              </a:defRPr>
            </a:pPr>
            <a:r>
              <a:rPr sz="2025" b="1">
                <a:solidFill>
                  <a:srgbClr val="E37222"/>
                </a:solidFill>
              </a:rPr>
              <a:t>55%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8EAA4-0AC8-4DCF-9402-419DDB0C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457325"/>
            <a:ext cx="3438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Full original ambition · LNG freight via Spark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6E544-70E1-4092-8ED6-9B337FD0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5293"/>
                </a:solidFill>
              </a:defRPr>
            </a:pPr>
            <a:r>
              <a:rPr sz="900" b="1">
                <a:solidFill>
                  <a:srgbClr val="005293"/>
                </a:solidFill>
              </a:rPr>
              <a:t>PROJECT STATUS &amp; 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C7B61-FAE3-4AF2-93D6-FBBAC873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Phase 1 · Data + counterfactual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5CF49-20D6-4D6E-9BC1-E05ADA59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solidFill>
              <a:srgbClr val="E8EA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B6326-A282-4788-AE68-A4B9C657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AD00"/>
          </a:solidFill>
          <a:ln xmlns:a="http://schemas.openxmlformats.org/drawingml/2006/main" w="0">
            <a:solidFill>
              <a:srgbClr val="A2AD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3F8FB-A7E5-4419-B680-40A5EB9B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2AD00"/>
                </a:solidFill>
              </a:defRPr>
            </a:pPr>
            <a:r>
              <a:rPr sz="1050" b="1">
                <a:solidFill>
                  <a:srgbClr val="A2AD00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7E2B6-0224-4D82-9A78-9FADCFF1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Phase 2 · Vessel-data feasibility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9C3DA-1422-477C-9CDE-3A59CF1C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032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solidFill>
              <a:srgbClr val="E8EA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7CFFF-DDED-4861-853F-6C2F71F4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032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AD00"/>
          </a:solidFill>
          <a:ln xmlns:a="http://schemas.openxmlformats.org/drawingml/2006/main" w="0">
            <a:solidFill>
              <a:srgbClr val="A2AD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4A2DB-7125-42FA-B032-0476C5C5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431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2AD00"/>
                </a:solidFill>
              </a:defRPr>
            </a:pPr>
            <a:r>
              <a:rPr sz="1050" b="1">
                <a:solidFill>
                  <a:srgbClr val="A2AD00"/>
                </a:solidFill>
              </a:rPr>
              <a:t>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20C90-DDB2-459E-BC81-7214187D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Phase 3A · Inferred mechanism + WTO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03621-0241-4663-9A80-612CA0B0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solidFill>
              <a:srgbClr val="E8EA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7464B1-FF1A-42A2-99A3-BE12F2F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AD00"/>
          </a:solidFill>
          <a:ln xmlns:a="http://schemas.openxmlformats.org/drawingml/2006/main" w="0">
            <a:solidFill>
              <a:srgbClr val="A2AD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9CD46-A5B8-4AF3-9E3D-36C0E98E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2AD00"/>
                </a:solidFill>
              </a:defRPr>
            </a:pPr>
            <a:r>
              <a:rPr sz="1050" b="1">
                <a:solidFill>
                  <a:srgbClr val="A2AD00"/>
                </a:solidFill>
              </a:rPr>
              <a:t>100%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E2E6D5-359A-4FF8-B4C7-81C5E762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Inference robustness (5 layers)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588FBD-B965-4123-B407-2693C558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527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solidFill>
              <a:srgbClr val="E8EA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56259-25C8-4C05-8D65-8A82CE1A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527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AD00"/>
          </a:solidFill>
          <a:ln xmlns:a="http://schemas.openxmlformats.org/drawingml/2006/main" w="0">
            <a:solidFill>
              <a:srgbClr val="A2A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E43E25-FB77-4B65-A55C-88473DEF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956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2AD00"/>
                </a:solidFill>
              </a:defRPr>
            </a:pPr>
            <a:r>
              <a:rPr sz="1050" b="1">
                <a:solidFill>
                  <a:srgbClr val="A2AD00"/>
                </a:solidFill>
              </a:rPr>
              <a:t>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19BF1-DCFA-43D0-B24D-B4D9B90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Estimand realignment — Prof. Li sign-off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053E7D-5FA0-4E96-875D-9EF7E64D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solidFill>
              <a:srgbClr val="E8EA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F41C51-0422-4EDA-9782-331FF4D6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222"/>
          </a:solidFill>
          <a:ln xmlns:a="http://schemas.openxmlformats.org/drawingml/2006/main" w="0">
            <a:solidFill>
              <a:srgbClr val="E3722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C36F10-540F-4127-A2DF-A079D951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7222"/>
                </a:solidFill>
              </a:defRPr>
            </a:pPr>
            <a:r>
              <a:rPr sz="1050" b="1">
                <a:solidFill>
                  <a:srgbClr val="E37222"/>
                </a:solidFill>
              </a:rPr>
              <a:t>40%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16DF5E-9081-491D-97D3-034F635F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TSFM freeze into reproducibility manifest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D35D1D-7DD8-45AA-9CA8-49DEC07A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0522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solidFill>
              <a:srgbClr val="E8EA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50B059-F6E4-4EF1-82B8-D1047868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05225"/>
            <a:ext cx="1028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222"/>
          </a:solidFill>
          <a:ln xmlns:a="http://schemas.openxmlformats.org/drawingml/2006/main" w="0">
            <a:solidFill>
              <a:srgbClr val="E3722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072060-BED2-4A92-B8D2-02932BEE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48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7222"/>
                </a:solidFill>
              </a:defRPr>
            </a:pPr>
            <a:r>
              <a:rPr sz="1050" b="1">
                <a:solidFill>
                  <a:srgbClr val="E37222"/>
                </a:solidFill>
              </a:rPr>
              <a:t>30%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082944-AA16-4B6A-9548-FE08EF34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Thesis write-up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3000CB-B767-41DF-B968-E5188177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solidFill>
              <a:srgbClr val="E8EA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1DBC12-C2F7-47F5-83A0-FE853F27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222"/>
          </a:solidFill>
          <a:ln xmlns:a="http://schemas.openxmlformats.org/drawingml/2006/main" w="0">
            <a:solidFill>
              <a:srgbClr val="E3722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955A86-DAAF-471D-804C-0C7B9F67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243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7222"/>
                </a:solidFill>
              </a:defRPr>
            </a:pPr>
            <a:r>
              <a:rPr sz="1050" b="1">
                <a:solidFill>
                  <a:srgbClr val="E37222"/>
                </a:solidFill>
              </a:rPr>
              <a:t>10%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BBC329-B0DB-465A-AF1D-B3F71F67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Spark / Bloomberg freight outcome (optional upside)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88B27A-3D5F-4329-BB9A-12DC8C0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solidFill>
              <a:srgbClr val="E8EA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270BD2-0A08-45FE-8539-AC7E176F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99"/>
          </a:solidFill>
          <a:ln xmlns:a="http://schemas.openxmlformats.org/drawingml/2006/main" w="0">
            <a:solidFill>
              <a:srgbClr val="8A969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44C3AF-C120-4571-9E84-3DC5ED12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00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699"/>
                </a:solidFill>
              </a:defRPr>
            </a:pPr>
            <a:r>
              <a:rPr sz="1050" b="1">
                <a:solidFill>
                  <a:srgbClr val="8A9699"/>
                </a:solidFill>
              </a:rPr>
              <a:t>15%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1CB18C-AA17-433A-A2F8-46A9D1C5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i="1">
                <a:solidFill>
                  <a:srgbClr val="4A565A"/>
                </a:solidFill>
              </a:defRPr>
            </a:pPr>
            <a:r>
              <a:rPr sz="975" i="1">
                <a:solidFill>
                  <a:srgbClr val="4A565A"/>
                </a:solidFill>
              </a:rPr>
              <a:t>Critical path: Prof. Li approval of the throughput-DV realignment (administrative, not technical).</a:t>
            </a:r>
          </a:p>
        </p:txBody>
      </p:sp>
    </p:spTree>
    <p:extLst>
      <p:ext uri="{BB962C8B-B14F-4D97-AF65-F5344CB8AC3E}">
        <p14:creationId xmlns:p14="http://schemas.microsoft.com/office/powerpoint/2010/main" val="18939952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A846AC2-B82E-EF77-BF3F-9B488CE46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369" y="288036"/>
            <a:ext cx="7331869" cy="3240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3359"/>
                </a:solidFill>
              </a:defRPr>
            </a:pPr>
            <a:r>
              <a:rPr sz="2400" b="0">
                <a:solidFill>
                  <a:srgbClr val="003359"/>
                </a:solidFill>
              </a:rPr>
              <a:t>Methodological discipline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DFB3DA2-D596-7601-C3F8-D544AD03CCA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6774942" y="4854988"/>
            <a:ext cx="2081689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A565A"/>
                </a:solidFill>
              </a:defRPr>
            </a:pPr>
            <a:fld id="{EFD6AB9A-5F9E-5F59-51AB-3C8734130965}" type="slidenum">
              <a:rPr sz="900">
                <a:solidFill>
                  <a:srgbClr val="4A565A"/>
                </a:solidFill>
              </a:rPr>
              <a:t>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E5C0A7-6648-6C80-6D1B-AC4A0419E94C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xfrm xmlns:a="http://schemas.openxmlformats.org/drawingml/2006/main">
            <a:off x="287369" y="4854988"/>
            <a:ext cx="6488144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TUM | Bachelor Thesis · Transportation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1936A-215C-430C-A7AF-9E1FF285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66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293"/>
          </a:solidFill>
          <a:ln xmlns:a="http://schemas.openxmlformats.org/drawingml/2006/main" w="0">
            <a:solidFill>
              <a:srgbClr val="00529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3A119-A8D9-4849-A6F8-B66F0A6E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049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F4731-B16F-4056-A17C-D8965CEB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3359"/>
                </a:solidFill>
              </a:defRPr>
            </a:pPr>
            <a:r>
              <a:rPr sz="1275" b="1">
                <a:solidFill>
                  <a:srgbClr val="003359"/>
                </a:solidFill>
              </a:rPr>
              <a:t>Free, immutable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D9AE8-6860-47AF-A3C1-8E429406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538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PortWatch, EIA, GFW, Global Fishing Watch and WTO/AXSMarine inputs are snapshot-hashed.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BD287-37DA-462F-BF3B-8A433A89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776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solidFill>
              <a:srgbClr val="DAD7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104F9-78FB-4F0D-93E2-1FDE2463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33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solidFill>
              <a:srgbClr val="0065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59A08-3FA4-410A-AF7D-51A72C8D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716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35780-E40B-415B-BA1F-71A377F4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3359"/>
                </a:solidFill>
              </a:defRPr>
            </a:pPr>
            <a:r>
              <a:rPr sz="1275" b="1">
                <a:solidFill>
                  <a:srgbClr val="003359"/>
                </a:solidFill>
              </a:rPr>
              <a:t>Locked primary estimator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3DCAA-F55A-4845-8484-ED5566A2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33575"/>
            <a:ext cx="538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AR(1,7) with weekly seasonality, trained strictly on pre-disruption days; no post-treatment covariate enters.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8EA2A-4130-4454-946E-AFB3F4EE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776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solidFill>
              <a:srgbClr val="DAD7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95B3B-32E4-4CF2-88AE-80CB85A7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00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0C8"/>
          </a:solidFill>
          <a:ln xmlns:a="http://schemas.openxmlformats.org/drawingml/2006/main" w="0">
            <a:solidFill>
              <a:srgbClr val="64A0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DF901-1DB8-46BE-8C03-20035143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384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A42F2-D583-43D5-9BD3-3F879602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3359"/>
                </a:solidFill>
              </a:defRPr>
            </a:pPr>
            <a:r>
              <a:rPr sz="1275" b="1">
                <a:solidFill>
                  <a:srgbClr val="003359"/>
                </a:solidFill>
              </a:rPr>
              <a:t>Leakage-safe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29384-A4EA-4D24-A31E-2B6BD9D3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538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Chronological rolling-origin cross-validation; cutoff fixed at 2026-02-28 and later event dates score sensitivity windows only.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0E4B8-A71D-46BF-A677-2BAEF7A9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776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solidFill>
              <a:srgbClr val="DAD7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41AE8-83CC-4CEF-8ABC-E5E90F39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67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222"/>
          </a:solidFill>
          <a:ln xmlns:a="http://schemas.openxmlformats.org/drawingml/2006/main" w="0">
            <a:solidFill>
              <a:srgbClr val="E372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E4272-A305-4244-93B4-70E7F63F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05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0C807-3681-452C-902E-BC2F2A03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3359"/>
                </a:solidFill>
              </a:defRPr>
            </a:pPr>
            <a:r>
              <a:rPr sz="1275" b="1">
                <a:solidFill>
                  <a:srgbClr val="003359"/>
                </a:solidFill>
              </a:rPr>
              <a:t>Identification, not 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6C63F2-17C9-4535-A70B-C46C1022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538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The claim rests on observed-minus-counterfactual disruption evidence—not forecast accuracy. Better prediction is not causal evidence.</a:t>
            </a:r>
          </a:p>
        </p:txBody>
      </p:sp>
    </p:spTree>
    <p:extLst>
      <p:ext uri="{BB962C8B-B14F-4D97-AF65-F5344CB8AC3E}">
        <p14:creationId xmlns:p14="http://schemas.microsoft.com/office/powerpoint/2010/main" val="18939952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A846AC2-B82E-EF77-BF3F-9B488CE46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369" y="288036"/>
            <a:ext cx="7331869" cy="3240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3359"/>
                </a:solidFill>
              </a:defRPr>
            </a:pPr>
            <a:r>
              <a:rPr sz="2400" b="0">
                <a:solidFill>
                  <a:srgbClr val="003359"/>
                </a:solidFill>
              </a:rPr>
              <a:t>Headline result · the throughput collapse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DFB3DA2-D596-7601-C3F8-D544AD03CCA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6774942" y="4854988"/>
            <a:ext cx="2081689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A565A"/>
                </a:solidFill>
              </a:defRPr>
            </a:pPr>
            <a:fld id="{EE5B3003-2C54-13C6-9832-7637201064DE}" type="slidenum">
              <a:rPr sz="900">
                <a:solidFill>
                  <a:srgbClr val="4A565A"/>
                </a:solidFill>
              </a:rPr>
              <a:t>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E5C0A7-6648-6C80-6D1B-AC4A0419E94C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xfrm xmlns:a="http://schemas.openxmlformats.org/drawingml/2006/main">
            <a:off x="287369" y="4854988"/>
            <a:ext cx="6488144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TUM | Bachelor Thesis · Transportation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2F171-7334-456C-B0EA-4EF07940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28700"/>
            <a:ext cx="595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629"/>
                </a:solidFill>
              </a:defRPr>
            </a:pPr>
            <a:r>
              <a:rPr sz="1050" b="1">
                <a:solidFill>
                  <a:srgbClr val="202629"/>
                </a:solidFill>
              </a:rPr>
              <a:t>Hormuz tanker throughput after the fixed operational-onset cutoff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285750" y="1304925"/>
          <a:ext xmlns:a="http://schemas.openxmlformats.org/drawingml/2006/main" cx="6191250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006ee2325b404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8F31D-A65B-4073-B37B-C46DD916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066800"/>
            <a:ext cx="2143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13335">
            <a:solidFill>
              <a:srgbClr val="E3722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772BD-C8F9-414E-9C73-55BD3F82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1620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37222"/>
                </a:solidFill>
              </a:defRPr>
            </a:pPr>
            <a:r>
              <a:rPr sz="2025" b="1">
                <a:solidFill>
                  <a:srgbClr val="E37222"/>
                </a:solidFill>
              </a:rPr>
              <a:t>6,869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E440D-15F8-4C24-8D76-2EE450C4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495425"/>
            <a:ext cx="191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transits below counterfactual · 130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ACD89-ECDD-41BE-BEBF-B4F45F69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2143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13335">
            <a:solidFill>
              <a:srgbClr val="E372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1EFB6-DDDE-468F-B0B6-7AD66A54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1907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37222"/>
                </a:solidFill>
              </a:defRPr>
            </a:pPr>
            <a:r>
              <a:rPr sz="2025" b="1">
                <a:solidFill>
                  <a:srgbClr val="E37222"/>
                </a:solidFill>
              </a:rPr>
              <a:t>52.8 / 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5D720-75B5-4891-8578-63BDB76A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24125"/>
            <a:ext cx="191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mean daily shortfall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DE2ED-71A2-41F6-B979-069206D5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24200"/>
            <a:ext cx="2143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3335">
            <a:solidFill>
              <a:srgbClr val="0065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B4AEE-9F0C-479B-9A67-73A00095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194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5293"/>
                </a:solidFill>
              </a:defRPr>
            </a:pPr>
            <a:r>
              <a:rPr sz="2025" b="1">
                <a:solidFill>
                  <a:srgbClr val="005293"/>
                </a:solidFill>
              </a:rPr>
              <a:t>−92.8%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DCEC6-9D3D-4834-8B39-7B66A99D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552825"/>
            <a:ext cx="191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observed below counterfactual throughput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90EDE-ABA3-45B9-9145-8281ED16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672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i="1">
                <a:solidFill>
                  <a:srgbClr val="4A565A"/>
                </a:solidFill>
              </a:defRPr>
            </a:pPr>
            <a:r>
              <a:rPr sz="825" i="1">
                <a:solidFill>
                  <a:srgbClr val="4A565A"/>
                </a:solidFill>
              </a:rPr>
              <a:t>AR-only counterfactual · disruption-associated descriptive shortfall · AIS-dark-vessel upper-bound risk · not LNG-specific freight</a:t>
            </a:r>
          </a:p>
        </p:txBody>
      </p:sp>
    </p:spTree>
    <p:extLst>
      <p:ext uri="{BB962C8B-B14F-4D97-AF65-F5344CB8AC3E}">
        <p14:creationId xmlns:p14="http://schemas.microsoft.com/office/powerpoint/2010/main" val="18939952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A846AC2-B82E-EF77-BF3F-9B488CE46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369" y="288036"/>
            <a:ext cx="7331869" cy="3240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3359"/>
                </a:solidFill>
              </a:defRPr>
            </a:pPr>
            <a:r>
              <a:rPr sz="2100" b="0">
                <a:solidFill>
                  <a:srgbClr val="003359"/>
                </a:solidFill>
              </a:rPr>
              <a:t>Diagnostics · placebo-in-time and placebo-in-space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DFB3DA2-D596-7601-C3F8-D544AD03CCA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6774942" y="4854988"/>
            <a:ext cx="2081689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A565A"/>
                </a:solidFill>
              </a:defRPr>
            </a:pPr>
            <a:fld id="{8C630A04-5A25-9E0C-9436-126091DB86B3}" type="slidenum">
              <a:rPr sz="900">
                <a:solidFill>
                  <a:srgbClr val="4A565A"/>
                </a:solidFill>
              </a:rPr>
              <a:t>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E5C0A7-6648-6C80-6D1B-AC4A0419E94C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xfrm xmlns:a="http://schemas.openxmlformats.org/drawingml/2006/main">
            <a:off x="287369" y="4854988"/>
            <a:ext cx="6488144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TUM | Bachelor Thesis · Transportation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AD589-A860-450B-9A6B-D54ED890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28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629"/>
                </a:solidFill>
              </a:defRPr>
            </a:pPr>
            <a:r>
              <a:rPr sz="1050" b="1">
                <a:solidFill>
                  <a:srgbClr val="202629"/>
                </a:solidFill>
              </a:rPr>
              <a:t>Seven disjoint 130-day blocks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285750" y="1295400"/>
          <a:ext xmlns:a="http://schemas.openxmlformats.org/drawingml/2006/main" cx="4095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7ffa6b98bc495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8682A-B06C-4D69-8622-B5EBA519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28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629"/>
                </a:solidFill>
              </a:defRPr>
            </a:pPr>
            <a:r>
              <a:rPr sz="1050" b="1">
                <a:solidFill>
                  <a:srgbClr val="202629"/>
                </a:solidFill>
              </a:rPr>
              <a:t>Same-date normalized-loss ranking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667250" y="1295400"/>
          <a:ext xmlns:a="http://schemas.openxmlformats.org/drawingml/2006/main" cx="419100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f75697e72f4f3f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5CBAC-59B6-4638-8CEB-B025387E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90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solidFill>
              <a:srgbClr val="DAD7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78A0C-8DC2-4401-B22F-7C4F1D6B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433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5293"/>
                </a:solidFill>
              </a:defRPr>
            </a:pPr>
            <a:r>
              <a:rPr sz="900" b="1">
                <a:solidFill>
                  <a:srgbClr val="005293"/>
                </a:solidFill>
              </a:rPr>
              <a:t>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CE972-7E0B-4371-AF2C-651B2168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02629"/>
                </a:solidFill>
              </a:defRPr>
            </a:pPr>
            <a:r>
              <a:rPr sz="975">
                <a:solidFill>
                  <a:srgbClr val="202629"/>
                </a:solidFill>
              </a:rPr>
              <a:t>Rank p = 0.125; nominal 95% conformal interval is unbounded.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BAB4F-1752-412B-ADA3-C7557E59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5293"/>
                </a:solidFill>
              </a:defRPr>
            </a:pPr>
            <a:r>
              <a:rPr sz="900" b="1">
                <a:solidFill>
                  <a:srgbClr val="005293"/>
                </a:solidFill>
              </a:rPr>
              <a:t>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B0412-B46E-48A3-AF4F-AB059CD3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433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02629"/>
                </a:solidFill>
              </a:defRPr>
            </a:pPr>
            <a:r>
              <a:rPr sz="975">
                <a:solidFill>
                  <a:srgbClr val="202629"/>
                </a:solidFill>
              </a:rPr>
              <a:t>Hormuz ranks first; 93.1% normalized loss is 4.6× the all-donor p95.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F4CC8-564B-40E5-96DF-54752535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005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i="1">
                <a:solidFill>
                  <a:srgbClr val="4A565A"/>
                </a:solidFill>
              </a:defRPr>
            </a:pPr>
            <a:r>
              <a:rPr sz="825" i="1">
                <a:solidFill>
                  <a:srgbClr val="4A565A"/>
                </a:solidFill>
              </a:rPr>
              <a:t>The 35 overlapping windows remain descriptive only; normalized spatial loss leads because raw counts are scale-confounded.</a:t>
            </a:r>
          </a:p>
        </p:txBody>
      </p:sp>
    </p:spTree>
    <p:extLst>
      <p:ext uri="{BB962C8B-B14F-4D97-AF65-F5344CB8AC3E}">
        <p14:creationId xmlns:p14="http://schemas.microsoft.com/office/powerpoint/2010/main" val="18939952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A846AC2-B82E-EF77-BF3F-9B488CE46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369" y="288036"/>
            <a:ext cx="7331869" cy="3240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3359"/>
                </a:solidFill>
              </a:defRPr>
            </a:pPr>
            <a:r>
              <a:rPr sz="2400" b="0">
                <a:solidFill>
                  <a:srgbClr val="003359"/>
                </a:solidFill>
              </a:rPr>
              <a:t>Corroboration · donor-weighted synthetic control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DFB3DA2-D596-7601-C3F8-D544AD03CCA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6774942" y="4854988"/>
            <a:ext cx="2081689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A565A"/>
                </a:solidFill>
              </a:defRPr>
            </a:pPr>
            <a:fld id="{D3D7D1C8-AE23-AA48-DF65-C742588DBE47}" type="slidenum">
              <a:rPr sz="900">
                <a:solidFill>
                  <a:srgbClr val="4A565A"/>
                </a:solidFill>
              </a:rPr>
              <a:t>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E5C0A7-6648-6C80-6D1B-AC4A0419E94C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xfrm xmlns:a="http://schemas.openxmlformats.org/drawingml/2006/main">
            <a:off x="287369" y="4854988"/>
            <a:ext cx="6488144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TUM | Bachelor Thesis · Transportation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753DE-3393-4481-A332-DBAA881F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28700"/>
            <a:ext cx="595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629"/>
                </a:solidFill>
              </a:defRPr>
            </a:pPr>
            <a:r>
              <a:rPr sz="1050" b="1">
                <a:solidFill>
                  <a:srgbClr val="202629"/>
                </a:solidFill>
              </a:rPr>
              <a:t>2022–2026 · Hormuz tanker throughput · observed and donor-weighted synthetic control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285750" y="1304925"/>
          <a:ext xmlns:a="http://schemas.openxmlformats.org/drawingml/2006/main" cx="6191250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a5a33cda43468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D82B4-D1D8-42F4-A1F2-DC932524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419225"/>
            <a:ext cx="19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222"/>
          </a:solidFill>
          <a:ln xmlns:a="http://schemas.openxmlformats.org/drawingml/2006/main" w="0">
            <a:solidFill>
              <a:srgbClr val="E3722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65E43-9CFD-45B8-A498-C44B246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097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37222"/>
                </a:solidFill>
              </a:defRPr>
            </a:pPr>
            <a:r>
              <a:rPr sz="750" b="1">
                <a:solidFill>
                  <a:srgbClr val="E37222"/>
                </a:solidFill>
              </a:rPr>
              <a:t>28 Feb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F9019-5BD0-4385-9AAE-A87D7618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066800"/>
            <a:ext cx="2143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3335">
            <a:solidFill>
              <a:srgbClr val="0065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FA533-F5BC-4D94-B725-1FE6ADBE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1620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5293"/>
                </a:solidFill>
              </a:defRPr>
            </a:pPr>
            <a:r>
              <a:rPr sz="2025" b="1">
                <a:solidFill>
                  <a:srgbClr val="005293"/>
                </a:solidFill>
              </a:rPr>
              <a:t>0.258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845BE-B87B-451B-98E4-DAF8E907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495425"/>
            <a:ext cx="191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pre-period RMSPE · mean-scaled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0EE68-5D55-4957-8307-40BC2D1A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2143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D8"/>
          </a:solidFill>
          <a:ln xmlns:a="http://schemas.openxmlformats.org/drawingml/2006/main" w="13335">
            <a:solidFill>
              <a:srgbClr val="A2AD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3F146-3FE5-4730-ACB6-94F3B046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1907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F7900"/>
                </a:solidFill>
              </a:defRPr>
            </a:pPr>
            <a:r>
              <a:rPr sz="2025" b="1">
                <a:solidFill>
                  <a:srgbClr val="6F7900"/>
                </a:solidFill>
              </a:rPr>
              <a:t>3.25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0AB85-A636-42D3-AF10-D920DF0E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24125"/>
            <a:ext cx="191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post / pre RMSPE ratio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DC8D0-0D54-41E1-8488-99E9DABA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24200"/>
            <a:ext cx="2143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D8"/>
          </a:solidFill>
          <a:ln xmlns:a="http://schemas.openxmlformats.org/drawingml/2006/main" w="13335">
            <a:solidFill>
              <a:srgbClr val="A2AD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B1D97-8FD5-4C64-B0AC-433FBA9A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194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F7900"/>
                </a:solidFill>
              </a:defRPr>
            </a:pPr>
            <a:r>
              <a:rPr sz="2025" b="1">
                <a:solidFill>
                  <a:srgbClr val="6F7900"/>
                </a:solidFill>
              </a:rPr>
              <a:t>2.17×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479D2-5618-4EC3-B62C-DEB5CB98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552825"/>
            <a:ext cx="1914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screened placebo p95 · rank p = 0.067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431EE-E022-440E-A08F-DF9D448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672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i="1">
                <a:solidFill>
                  <a:srgbClr val="4A565A"/>
                </a:solidFill>
              </a:defRPr>
            </a:pPr>
            <a:r>
              <a:rPr sz="825" i="1">
                <a:solidFill>
                  <a:srgbClr val="4A565A"/>
                </a:solidFill>
              </a:rPr>
              <a:t>2× pre-fit screen: 14/22 placebos eligible, 8 excluded · mean-scaled shape match · corroboration, not an independent design</a:t>
            </a:r>
          </a:p>
        </p:txBody>
      </p:sp>
    </p:spTree>
    <p:extLst>
      <p:ext uri="{BB962C8B-B14F-4D97-AF65-F5344CB8AC3E}">
        <p14:creationId xmlns:p14="http://schemas.microsoft.com/office/powerpoint/2010/main" val="18939952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A846AC2-B82E-EF77-BF3F-9B488CE46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369" y="288036"/>
            <a:ext cx="7331869" cy="3240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359"/>
                </a:solidFill>
              </a:defRPr>
            </a:pPr>
            <a:r>
              <a:rPr sz="1800" b="0">
                <a:solidFill>
                  <a:srgbClr val="003359"/>
                </a:solidFill>
              </a:rPr>
              <a:t>LNG mechanism · fewer voyages; retained-voyage mean rises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DFB3DA2-D596-7601-C3F8-D544AD03CCA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6774942" y="4854988"/>
            <a:ext cx="2081689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A565A"/>
                </a:solidFill>
              </a:defRPr>
            </a:pPr>
            <a:fld id="{BA58DA2A-B818-18A9-29C1-B697728D5BCE}" type="slidenum">
              <a:rPr sz="900">
                <a:solidFill>
                  <a:srgbClr val="4A565A"/>
                </a:solidFill>
              </a:rPr>
              <a:t>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E5C0A7-6648-6C80-6D1B-AC4A0419E94C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xfrm xmlns:a="http://schemas.openxmlformats.org/drawingml/2006/main">
            <a:off x="287369" y="4854988"/>
            <a:ext cx="6488144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TUM | Bachelor Thesis · Transportation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F5A49-C0CD-4485-ABA0-3E6B1531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287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629"/>
                </a:solidFill>
              </a:defRPr>
            </a:pPr>
            <a:r>
              <a:rPr sz="1050" b="1">
                <a:solidFill>
                  <a:srgbClr val="202629"/>
                </a:solidFill>
              </a:rPr>
              <a:t>Open-data evidence on the LNG test-distance mechanism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285750" y="1333500"/>
          <a:ext xmlns:a="http://schemas.openxmlformats.org/drawingml/2006/main" cx="5810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0eab5af50b461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8FBD1-5799-40A9-BD4E-EA3F319F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28700"/>
            <a:ext cx="2476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64A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566B1-DE6F-4D9C-A69D-B4BDB15E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5293"/>
                </a:solidFill>
              </a:defRPr>
            </a:pPr>
            <a:r>
              <a:rPr sz="900" b="1">
                <a:solidFill>
                  <a:srgbClr val="005293"/>
                </a:solidFill>
              </a:rPr>
              <a:t>DISTINCT DESCRIPTIVE CROSS-CHECK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BBA35-1D6D-412E-8824-70B2838F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2047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WTO/AXSMarine LNG outbound index: −98.3%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Inferred Gulf departure calls: −93.0%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Retained-voyage mean capacity-distance: +10.2%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B6E06-BD71-4E76-AE4C-A97806F5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43275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11430">
            <a:solidFill>
              <a:srgbClr val="E372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40213-D202-439F-BE48-9B34B0D3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02629"/>
                </a:solidFill>
              </a:defRPr>
            </a:pPr>
            <a:r>
              <a:rPr sz="900">
                <a:solidFill>
                  <a:srgbClr val="202629"/>
                </a:solidFill>
              </a:rPr>
              <a:t>Observed aggregate index, inferred terminal sequences, and modeled routes are partially dependent descriptive layers—not cargo ton-miles, laden state, freight rates, or causal effects.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D733B-51C3-453D-97B1-94D650CD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672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i="1">
                <a:solidFill>
                  <a:srgbClr val="4A565A"/>
                </a:solidFill>
              </a:defRPr>
            </a:pPr>
            <a:r>
              <a:rPr sz="825" i="1">
                <a:solidFill>
                  <a:srgbClr val="4A565A"/>
                </a:solidFill>
              </a:rPr>
              <a:t>Fewer inferred voyages dominate the aggregate decline; the retained-voyage mean moves in the opposite direction.</a:t>
            </a:r>
          </a:p>
        </p:txBody>
      </p:sp>
    </p:spTree>
    <p:extLst>
      <p:ext uri="{BB962C8B-B14F-4D97-AF65-F5344CB8AC3E}">
        <p14:creationId xmlns:p14="http://schemas.microsoft.com/office/powerpoint/2010/main" val="18939952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A846AC2-B82E-EF77-BF3F-9B488CE46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369" y="288036"/>
            <a:ext cx="7331869" cy="3240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3359"/>
                </a:solidFill>
              </a:defRPr>
            </a:pPr>
            <a:r>
              <a:rPr sz="2400" b="0">
                <a:solidFill>
                  <a:srgbClr val="003359"/>
                </a:solidFill>
              </a:rPr>
              <a:t>What the evidence supports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DFB3DA2-D596-7601-C3F8-D544AD03CCA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6774942" y="4854988"/>
            <a:ext cx="2081689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A565A"/>
                </a:solidFill>
              </a:defRPr>
            </a:pPr>
            <a:fld id="{388657AE-30A1-5A7A-6A7F-315D84436430}" type="slidenum">
              <a:rPr sz="900">
                <a:solidFill>
                  <a:srgbClr val="4A565A"/>
                </a:solidFill>
              </a:rPr>
              <a:t>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E5C0A7-6648-6C80-6D1B-AC4A0419E94C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xfrm xmlns:a="http://schemas.openxmlformats.org/drawingml/2006/main">
            <a:off x="287369" y="4854988"/>
            <a:ext cx="6488144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TUM | Bachelor Thesis · Transportation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CCBD8-E139-4E68-9AC8-5532B278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A565A"/>
                </a:solidFill>
              </a:defRPr>
            </a:pPr>
            <a:r>
              <a:rPr sz="1050">
                <a:solidFill>
                  <a:srgbClr val="4A565A"/>
                </a:solidFill>
              </a:rPr>
              <a:t>One descriptive estimate, dependence-aware diagnostics, donor corroboration, and a distinct LNG cross-check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F4B50-D8EC-4FCB-9485-52775A73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0"/>
            <a:ext cx="1952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3335">
            <a:solidFill>
              <a:srgbClr val="0065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160A7-6A50-497F-8646-80FAA601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3359"/>
                </a:solidFill>
              </a:defRPr>
            </a:pPr>
            <a:r>
              <a:rPr sz="1125" b="1">
                <a:solidFill>
                  <a:srgbClr val="003359"/>
                </a:solidFill>
              </a:rPr>
              <a:t>1 · Primary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54132-041B-4A06-8345-4FA1C071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52625"/>
            <a:ext cx="166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AR-only, pre-period training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6,869 transits / 130 days</a:t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52.8 per day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Disruption-associated—not a causal ATT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9B540-B8E1-48C9-8162-FA15C853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1952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3335">
            <a:solidFill>
              <a:srgbClr val="64A0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22B77-055F-482C-ACD2-1F538FA9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581150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3359"/>
                </a:solidFill>
              </a:defRPr>
            </a:pPr>
            <a:r>
              <a:rPr sz="1125" b="1">
                <a:solidFill>
                  <a:srgbClr val="003359"/>
                </a:solidFill>
              </a:rPr>
              <a:t>2 · Temporal inference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1F1B8-5302-405E-9256-2186EDF3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52625"/>
            <a:ext cx="166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7 disjoint blocks</a:t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rank p = 0.125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95% conformal: unbounded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35 overlapping windows: descriptive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6AA02-2EEC-4B12-8464-859B6F09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1952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13335">
            <a:solidFill>
              <a:srgbClr val="E372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0E7AA-1F44-44BD-96E3-815AC644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81150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3359"/>
                </a:solidFill>
              </a:defRPr>
            </a:pPr>
            <a:r>
              <a:rPr sz="1125" b="1">
                <a:solidFill>
                  <a:srgbClr val="003359"/>
                </a:solidFill>
              </a:rPr>
              <a:t>3 · Spatial + donor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A1312-4D69-4F25-9827-1E33911C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166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Spatial separation: 4.6×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Synthetic control:</a:t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14/22 eligible (2× screen)</a:t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2.17× placebo p95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Shared donor screen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93D06-CFA6-4F40-9869-48706195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28750"/>
            <a:ext cx="1952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D8"/>
          </a:solidFill>
          <a:ln xmlns:a="http://schemas.openxmlformats.org/drawingml/2006/main" w="13335">
            <a:solidFill>
              <a:srgbClr val="A2AD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A6FAF-E1AE-4BAD-8185-26162ABA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581150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3359"/>
                </a:solidFill>
              </a:defRPr>
            </a:pPr>
            <a:r>
              <a:rPr sz="1125" b="1">
                <a:solidFill>
                  <a:srgbClr val="003359"/>
                </a:solidFill>
              </a:rPr>
              <a:t>4 · LNG cross-check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02A70-2BD2-4605-A103-61A9D69B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66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WTO index: −98.3%</a:t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Inferred calls: −93.0%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Retained-voyage mean: +10.2%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Distinct descriptive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DCB75-5BD3-44FA-A977-21D6AD02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90950"/>
            <a:ext cx="676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293"/>
          </a:solidFill>
          <a:ln xmlns:a="http://schemas.openxmlformats.org/drawingml/2006/main" w="0">
            <a:solidFill>
              <a:srgbClr val="00529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23F3A-20F3-45B3-A770-6A0CFA00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766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SUPPORTED CONCLUSION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9A1C6-EF25-481B-99D4-11773ECB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862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A large, persistent disruption-associated counterfactual shortfall in AIS-based tanker throughput.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The evidence is descriptive and is not an LNG freight-rate estimate.</a:t>
            </a:r>
          </a:p>
        </p:txBody>
      </p:sp>
    </p:spTree>
    <p:extLst>
      <p:ext uri="{BB962C8B-B14F-4D97-AF65-F5344CB8AC3E}">
        <p14:creationId xmlns:p14="http://schemas.microsoft.com/office/powerpoint/2010/main" val="18939952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A846AC2-B82E-EF77-BF3F-9B488CE46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369" y="288036"/>
            <a:ext cx="7331869" cy="3240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3359"/>
                </a:solidFill>
              </a:defRPr>
            </a:pPr>
            <a:r>
              <a:rPr sz="2400" b="0">
                <a:solidFill>
                  <a:srgbClr val="003359"/>
                </a:solidFill>
              </a:rPr>
              <a:t>Honest limitations &amp; what's next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DFB3DA2-D596-7601-C3F8-D544AD03CCA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6774942" y="4854988"/>
            <a:ext cx="2081689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A565A"/>
                </a:solidFill>
              </a:defRPr>
            </a:pPr>
            <a:fld id="{DB7BEEEC-A170-5376-2B6E-CB54687B0CB1}" type="slidenum">
              <a:rPr sz="900">
                <a:solidFill>
                  <a:srgbClr val="4A565A"/>
                </a:solidFill>
              </a:rPr>
              <a:t>10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E5C0A7-6648-6C80-6D1B-AC4A0419E94C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>
          <a:xfrm xmlns:a="http://schemas.openxmlformats.org/drawingml/2006/main">
            <a:off x="287369" y="4854988"/>
            <a:ext cx="6488144" cy="273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A565A"/>
                </a:solidFill>
              </a:defRPr>
            </a:pPr>
            <a:r>
              <a:rPr sz="900">
                <a:solidFill>
                  <a:srgbClr val="4A565A"/>
                </a:solidFill>
              </a:rPr>
              <a:t>TUM | Bachelor Thesis · Transportation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2AB10-7E95-4189-AC53-936C8FD9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28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4A565A"/>
                </a:solidFill>
              </a:defRPr>
            </a:pPr>
            <a:r>
              <a:rPr sz="1050" i="1">
                <a:solidFill>
                  <a:srgbClr val="4A565A"/>
                </a:solidFill>
              </a:rPr>
              <a:t>Stated plainly — these are defensible boundaries, not hidden caveats.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970D1-AD56-44F9-90BE-AF360769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0"/>
            <a:ext cx="41433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64A0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E4DD2-EA24-4884-BF6F-E65A1431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5293"/>
                </a:solidFill>
              </a:defRPr>
            </a:pPr>
            <a:r>
              <a:rPr sz="900" b="1">
                <a:solidFill>
                  <a:srgbClr val="005293"/>
                </a:solidFill>
              </a:rPr>
              <a:t>LIMITATIONS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19299-1C95-4B55-80DC-B58B562F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71675"/>
            <a:ext cx="3714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AIS-dark vessels may inflate the measured collapse → upper-bound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Seven disjoint blocks: rank p = 0.125; nominal 95% conformal interval unbounded.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Outcome is tanker throughput, not LNG-specific freight.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Mechanism evidence is descriptive, not causal.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19337-7D33-4BE7-A4FB-D5CD3E1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428750"/>
            <a:ext cx="41433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11430">
            <a:solidFill>
              <a:srgbClr val="E372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E0517-B73D-4B67-8DCC-F37D038B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638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5293"/>
                </a:solidFill>
              </a:defRPr>
            </a:pPr>
            <a:r>
              <a:rPr sz="900" b="1">
                <a:solidFill>
                  <a:srgbClr val="005293"/>
                </a:solidFill>
              </a:rPr>
              <a:t>CRITICAL PATH &amp; NEXT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43AD8-073D-4E5C-AEB1-1050DD1E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971675"/>
            <a:ext cx="3714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Prof. Li or delegated-authority decision on the throughput-DV realignment.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Preserve the verified 49-stage run and frozen provenance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Thesis write-up — empirical scope complete; claims remain descriptive.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202629"/>
                </a:solidFill>
              </a:defRPr>
            </a:pPr>
            <a:r>
              <a:rPr sz="1050">
                <a:solidFill>
                  <a:srgbClr val="202629"/>
                </a:solidFill>
              </a:rPr>
              <a:t>• Spark / Bloomberg freight outcome — optional, non-blocking upside.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99164-FDE0-4D0C-9480-A41E488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576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solidFill>
              <a:srgbClr val="DAD7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E7E87-7924-49E0-B8A6-99CAFA85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19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3359"/>
                </a:solidFill>
              </a:defRPr>
            </a:pPr>
            <a:r>
              <a:rPr sz="975" b="1">
                <a:solidFill>
                  <a:srgbClr val="003359"/>
                </a:solidFill>
              </a:rPr>
              <a:t>Committed-scope empirical work complete · remaining critical path: governance decision, writing, and supervisor review.</a:t>
            </a:r>
          </a:p>
        </p:txBody>
      </p:sp>
    </p:spTree>
    <p:extLst>
      <p:ext uri="{BB962C8B-B14F-4D97-AF65-F5344CB8AC3E}">
        <p14:creationId xmlns:p14="http://schemas.microsoft.com/office/powerpoint/2010/main" val="1893995267"/>
      </p:ext>
    </p:extLst>
  </p:cSld>
</p:sld>
</file>

<file path=ppt/theme/theme1.xml><?xml version="1.0" encoding="utf-8"?>
<a:theme xmlns:a="http://schemas.openxmlformats.org/drawingml/2006/main" name="BGD Standar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2026-07-29T09:48:48.5150000Z</dcterms:created>
  <dcterms:modified xsi:type="dcterms:W3CDTF">2026-07-29T09:48:48.5160000Z</dcterms:modified>
</coreProperties>
</file>