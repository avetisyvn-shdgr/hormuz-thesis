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Thesis · TUM · Supervisor Review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Counterfactual Estimation of Tanker-Throughput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Disruption at the Strait of Hormuz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and synthetic-control evidence from the 2026 episode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Mher Avetisyan</a:t>
            </a:r>
            <a:pPr indent="0" marL="0">
              <a:buNone/>
            </a:pPr>
            <a:r>
              <a:rPr lang="en-US" sz="1300" dirty="0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mher.avetisyan@tum.de   ·   June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12064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2E3A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independent anchors + corroboration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512064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2E3A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tests passing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512064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2E3A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(SHA-256)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512064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2E3A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5120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immutable open data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estimand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and persistent was the disruption-associated shortfall in observable daily tanker throughput through the Strait of Hormuz, relative to counterfactual paths estimated exclusively from pre-disruption data?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834640" y="2880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tanker transit count (IMF PortWatch n_tanker)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538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outcome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34640" y="35387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deadweight capacity of transiting tankers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1970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34640" y="41970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&amp; mean-daily observed-minus-counterfactual gap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8554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language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48554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Disruption-associated counterfactual shortfall — not a causal ATT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109728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EBF1F5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throughput, not freight rates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09560" y="187452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/ Spark LNG freight access is unconfirmed.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fallback: a free, fully reproducible throughput DV.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LNG freight-rate outcome is additive upside if access arrives.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Estimand realignment is drafted and pending Prof. Li sign-off.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PENDING_ESTIMAND_REALIGNMENT_DRAFT.md · IMF PortWatch · proposal-vs-thesis reconciliation pending supervisor approval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project stands</a:t>
            </a:r>
            <a:endParaRPr lang="en-US" sz="2600" dirty="0"/>
          </a:p>
        </p:txBody>
      </p:sp>
      <p:pic>
        <p:nvPicPr>
          <p:cNvPr id="3" name="Image 0" descr="/sessions/adoring-gifted-maxwell/mnt/Bachelor Thesis - ML Model/lng_freight_thesis/reports/figures/presentation/fig_road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868680"/>
            <a:ext cx="96012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Methodological discipline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097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immutable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0" y="103327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PortWatch, EIA, FRED, Global Fishing Watch, WTO/AXSMarine — snapshotted and SHA-256 hashed.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3957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primary estimator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331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AR(1,7) with weekly seasonality, trained strictly on pre-disruption days. No post-treatment covariate can enter.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6941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validation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630168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rolling-origin CV; cutoff fixed at 2026-02-28; later event dates are scoring windows only.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49926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Identification, not fit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4928616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rests on observed-minus-counterfactual + donor design — never on forecast accuracy. A better forecaster is not causal evidence.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CLAUDE.md discipline rules · EVENT_CHRONOLOGY.md · src/lngfreight/{validation,baselines,inference}.py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result · the throughput collapse</a:t>
            </a:r>
            <a:endParaRPr lang="en-US" sz="2400" dirty="0"/>
          </a:p>
        </p:txBody>
      </p:sp>
      <p:pic>
        <p:nvPicPr>
          <p:cNvPr id="3" name="Image 0" descr="/sessions/adoring-gifted-maxwell/mnt/Bachelor Thesis - ML Model/lng_freight_thesis/reports/figures/presentation/fig_counterfactual_g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841248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06840" y="10515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BF1F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06840" y="1161288"/>
            <a:ext cx="26974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5,121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098280" y="1901952"/>
            <a:ext cx="251460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 transits lost vs counterfactual (94 days)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9006840" y="26060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BF1F5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06840" y="2715768"/>
            <a:ext cx="26974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~55 / day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098280" y="3456432"/>
            <a:ext cx="251460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shortfall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006840" y="41605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BF1F5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06840" y="4270248"/>
            <a:ext cx="26974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−96%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098280" y="5010912"/>
            <a:ext cx="251460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 expected throughput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AR-only counterfactual, IMF PortWatch n_tanker · observed AIS-based throughput, an upper bound (vessels going dark) · not LNG-specific freight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Falsification · placebo-in-time and placebo-in-space</a:t>
            </a:r>
            <a:endParaRPr lang="en-US" sz="2300" dirty="0"/>
          </a:p>
        </p:txBody>
      </p:sp>
      <p:pic>
        <p:nvPicPr>
          <p:cNvPr id="3" name="Image 0" descr="/sessions/adoring-gifted-maxwell/mnt/Bachelor Thesis - ML Model/lng_freight_thesis/reports/figures/presentation/fig_placebo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914400"/>
            <a:ext cx="6126480" cy="3108960"/>
          </a:xfrm>
          <a:prstGeom prst="rect">
            <a:avLst/>
          </a:prstGeom>
        </p:spPr>
      </p:pic>
      <p:pic>
        <p:nvPicPr>
          <p:cNvPr id="4" name="Image 1" descr="/sessions/adoring-gifted-maxwell/mnt/Bachelor Thesis - ML Model/lng_freight_thesis/reports/figures/presentation/fig_spatial_rank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868680"/>
            <a:ext cx="5486400" cy="5120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42062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loss exceeds all 36 pre-period placebos — 4.0× separation, p = 0.027 (design floor).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365760" y="48920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pPr indent="0" marL="0">
              <a:buNone/>
            </a:pPr>
            <a:r>
              <a:rPr lang="en-US" sz="12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Hormuz ranks #1 of 28 chokepoints; collapse is categorical (95.5% vs next ~30%).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separation ratio: ~9 non-overlapping horizon windows make the p-value floor-censored · normalized loss leads (raw counts scale-confounded)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Corroboration · donor-weighted synthetic control</a:t>
            </a:r>
            <a:endParaRPr lang="en-US" sz="2300" dirty="0"/>
          </a:p>
        </p:txBody>
      </p:sp>
      <p:pic>
        <p:nvPicPr>
          <p:cNvPr id="3" name="Image 0" descr="/sessions/adoring-gifted-maxwell/mnt/Bachelor Thesis - ML Model/lng_freight_thesis/reports/figures/presentation/fig_synthetic_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82296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006840" y="10515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BF1F5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06840" y="1161288"/>
            <a:ext cx="269748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0.175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098280" y="1847088"/>
            <a:ext cx="25146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pre-period RMSPE (credible fit)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9006840" y="25146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BF1F5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06840" y="2624328"/>
            <a:ext cx="269748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098280" y="3310128"/>
            <a:ext cx="25146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pre RMSPE ratio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006840" y="397764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BF1F5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06840" y="4087368"/>
            <a:ext cx="269748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3.87×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098280" y="4773168"/>
            <a:ext cx="25146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placebo p95 · p = 0.043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donor pool (5 corridors excluded) · mean-scaled match (shape, not size) · corroboration · shares the contamination screen with the spatial placebo — not independent of it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LNG mechanism · fewer voyages, longer each</a:t>
            </a:r>
            <a:endParaRPr lang="en-US" sz="2300" dirty="0"/>
          </a:p>
        </p:txBody>
      </p:sp>
      <p:pic>
        <p:nvPicPr>
          <p:cNvPr id="3" name="Image 0" descr="/sessions/adoring-gifted-maxwell/mnt/Bachelor Thesis - ML Model/lng_freight_thesis/reports/figures/presentation/fig_mechanism_multipli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68680"/>
            <a:ext cx="795528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95360" y="105156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EBF1F5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78240" y="1234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cross-check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23960" y="169164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WTO/AXSMarine LNG outbound index: −98.6%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Gulf departures: −93.0%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sources, no fitted scaling factor.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95360" y="40233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inferred quantities (GFW + carrier roster) — not observed cargo ton-miles, laden state, or freight rates.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mechanism_results_summary.md · GULF_DEPARTURE_WTO_VALIDATION_RESULTS.md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gifted-maxwell/mnt/Bachelor Thesis - ML Model/lng_freight_thesis/reports/figures/presentation/fig_evidence_ch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365760"/>
            <a:ext cx="1088136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 &amp; 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 — these are defensible, not hidden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collapse is partly AIS-dark vessels → an upper bound.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0.027 is a design floor; lead with the separation ratio.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tanker throughput, not LNG-specific freight.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layer is descriptive corroboration, not causal.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path &amp; next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5080" y="228600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Li sign-off on the throughput-DV realignment (admin, not technical).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TSFM benchmark run into the reproducibility manifest.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write-up — the empirical engine is complete.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Bloomberg freight outcome — optional, non-blocking upside.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Committed-scope thesis ~85% complete · empirical work done · remaining effort is mostly writing.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Hormuz Tanker-Throughput Disruption — Supervisor Review</dc:title>
  <dc:subject>PptxGenJS Presentation</dc:subject>
  <dc:creator>Mher Avetisyan</dc:creator>
  <cp:lastModifiedBy>Mher Avetisyan</cp:lastModifiedBy>
  <cp:revision>1</cp:revision>
  <dcterms:created xsi:type="dcterms:W3CDTF">2026-06-20T00:07:56Z</dcterms:created>
  <dcterms:modified xsi:type="dcterms:W3CDTF">2026-06-20T00:07:56Z</dcterms:modified>
</cp:coreProperties>
</file>